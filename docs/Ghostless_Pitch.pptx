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4A48"/>
                </a:solidFill>
                <a:latin typeface="Arial"/>
              </a:defRPr>
            </a:pPr>
            <a:r>
              <a:rPr sz="1200" b="0" i="0" u="none" strike="noStrike">
                <a:solidFill>
                  <a:srgbClr val="4A4A48"/>
                </a:solidFill>
                <a:latin typeface="Arial"/>
              </a:rPr>
              <a:t>Gas per decision (lower is better)</a:t>
            </a:r>
          </a:p>
        </c:rich>
      </c:tx>
      <c:layout/>
      <c:overlay val="0"/>
    </c:title>
    <c:autoTitleDeleted val="0"/>
    <c:plotArea>
      <c:layout/>
      <c:barChart>
        <c:barDir val="bar"/>
        <c:grouping val="clustered"/>
        <c:varyColors val="0"/>
        <c:ser>
          <c:idx val="0"/>
          <c:order val="0"/>
          <c:tx>
            <c:strRef>
              <c:f>Sheet1!$B$1</c:f>
              <c:strCache>
                <c:ptCount val="1"/>
                <c:pt idx="0">
                  <c:v>Gas per decision</c:v>
                </c:pt>
              </c:strCache>
            </c:strRef>
          </c:tx>
          <c:spPr>
            <a:solidFill>
              <a:srgbClr val="3D6E78"/>
            </a:solidFill>
            <a:effectLst/>
          </c:spPr>
          <c:invertIfNegative val="0"/>
          <c:dLbls>
            <c:numFmt formatCode="#,##0" sourceLinked="0"/>
            <c:txPr>
              <a:bodyPr/>
              <a:lstStyle/>
              <a:p>
                <a:pPr>
                  <a:defRPr b="0" i="0" strike="noStrike" sz="1100" u="none">
                    <a:solidFill>
                      <a:srgbClr val="1B1B1B"/>
                    </a:solidFill>
                    <a:latin typeface="Arial"/>
                  </a:defRPr>
                </a:pPr>
              </a:p>
            </c:txPr>
            <c:showLegendKey val="0"/>
            <c:showVal val="1"/>
            <c:showCatName val="0"/>
            <c:showSerName val="0"/>
            <c:showPercent val="0"/>
            <c:showBubbleSize val="0"/>
            <c:showLeaderLines val="0"/>
          </c:dLbls>
          <c:cat>
            <c:multiLvlStrRef>
              <c:f>Sheet1!$A$2:$A$5</c:f>
              <c:multiLvlStrCache>
                <c:ptCount val="4"/>
                <c:lvl>
                  <c:pt idx="0">
                    <c:v>Ghostless ×256</c:v>
                  </c:pt>
                  <c:pt idx="1">
                    <c:v>Ghostless ×128</c:v>
                  </c:pt>
                  <c:pt idx="2">
                    <c:v>Ghostless ×64</c:v>
                  </c:pt>
                  <c:pt idx="3">
                    <c:v>Per-tx anchor</c:v>
                  </c:pt>
                </c:lvl>
              </c:multiLvlStrCache>
            </c:multiLvlStrRef>
          </c:cat>
          <c:val>
            <c:numRef>
              <c:f>Sheet1!$B$2:$B$5</c:f>
              <c:numCache>
                <c:formatCode>General</c:formatCode>
                <c:ptCount val="4"/>
                <c:pt idx="0">
                  <c:v>683</c:v>
                </c:pt>
                <c:pt idx="1">
                  <c:v>1367</c:v>
                </c:pt>
                <c:pt idx="2">
                  <c:v>3802</c:v>
                </c:pt>
                <c:pt idx="3">
                  <c:v>68028</c:v>
                </c:pt>
              </c:numCache>
            </c:numRef>
          </c:val>
        </c:ser>
        <c:dLbls>
          <c:numFmt formatCode="#,##0" sourceLinked="0"/>
          <c:txPr>
            <a:bodyPr/>
            <a:lstStyle/>
            <a:p>
              <a:pPr>
                <a:defRPr b="0" i="0" strike="noStrike" sz="1100" u="none">
                  <a:solidFill>
                    <a:srgbClr val="1B1B1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4A48"/>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Ghostless = two proofs combined: proof that work happened (sensors) and proof that nothing was quietly left out (reserved, bonded ledger slots). Waste collection is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 modes. Integrity (nobody edited history) is solved by blockchains. Completeness (nothing was left out) and truth (the work happened)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build: M2M mode. Contract already has escrow, device signatures and release; we add bin-owned wallets, an open job board and truck devices as payees.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MST BLOCKCHAIN × NEWRRO BUILDATHON  ·  OPEN INNOVATION  ·  ROBOTICS × BLOCKCHAIN</a:t>
            </a:r>
            <a:endParaRPr lang="en-US" sz="1000" dirty="0"/>
          </a:p>
        </p:txBody>
      </p:sp>
      <p:sp>
        <p:nvSpPr>
          <p:cNvPr id="3" name="Text 1"/>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4" name="Text 2"/>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01</a:t>
            </a:r>
            <a:endParaRPr lang="en-US" sz="800" dirty="0"/>
          </a:p>
        </p:txBody>
      </p:sp>
      <p:sp>
        <p:nvSpPr>
          <p:cNvPr id="5" name="Text 3"/>
          <p:cNvSpPr txBox="1"/>
          <p:nvPr/>
        </p:nvSpPr>
        <p:spPr>
          <a:xfrm>
            <a:off x="640080" y="914400"/>
            <a:ext cx="10515600" cy="1737360"/>
          </a:xfrm>
          <a:prstGeom prst="rect">
            <a:avLst/>
          </a:prstGeom>
          <a:noFill/>
          <a:ln/>
        </p:spPr>
        <p:txBody>
          <a:bodyPr wrap="square" lIns="0" tIns="0" rIns="0" bIns="0" rtlCol="0" anchor="t"/>
          <a:lstStyle/>
          <a:p>
            <a:pPr indent="0" marL="0">
              <a:buNone/>
            </a:pPr>
            <a:r>
              <a:rPr lang="en-US" sz="4400" b="1" dirty="0">
                <a:solidFill>
                  <a:srgbClr val="1B1B1B"/>
                </a:solidFill>
                <a:latin typeface="Cambria" pitchFamily="34" charset="0"/>
                <a:ea typeface="Cambria" pitchFamily="34" charset="-122"/>
                <a:cs typeface="Cambria" pitchFamily="34" charset="-120"/>
              </a:rPr>
              <a:t>Ghostless: Nothing Gets Paid That Didn't Happen</a:t>
            </a:r>
            <a:endParaRPr lang="en-US" sz="4400" dirty="0"/>
          </a:p>
        </p:txBody>
      </p:sp>
      <p:sp>
        <p:nvSpPr>
          <p:cNvPr id="6" name="Text 4"/>
          <p:cNvSpPr txBox="1"/>
          <p:nvPr/>
        </p:nvSpPr>
        <p:spPr>
          <a:xfrm>
            <a:off x="640080" y="2743200"/>
            <a:ext cx="8412480" cy="1005840"/>
          </a:xfrm>
          <a:prstGeom prst="rect">
            <a:avLst/>
          </a:prstGeom>
          <a:noFill/>
          <a:ln/>
        </p:spPr>
        <p:txBody>
          <a:bodyPr wrap="square" lIns="0" tIns="0" rIns="0" bIns="0" rtlCol="0" anchor="t"/>
          <a:lstStyle/>
          <a:p>
            <a:pPr indent="0" marL="0">
              <a:buNone/>
            </a:pPr>
            <a:r>
              <a:rPr lang="en-US" sz="1600" dirty="0">
                <a:solidFill>
                  <a:srgbClr val="4A4A48"/>
                </a:solidFill>
                <a:latin typeface="Calibri" pitchFamily="34" charset="0"/>
                <a:ea typeface="Calibri" pitchFamily="34" charset="-122"/>
                <a:cs typeface="Calibri" pitchFamily="34" charset="-120"/>
              </a:rPr>
              <a:t>A proof-of-service network for cities. Machines prove the work, the ledger makes skipping or faking it provable and punishable, and payment settles on MST Blockchain. First deployment: smart waste collection in Bengaluru.</a:t>
            </a:r>
            <a:endParaRPr lang="en-US" sz="1600" dirty="0"/>
          </a:p>
        </p:txBody>
      </p:sp>
      <p:sp>
        <p:nvSpPr>
          <p:cNvPr id="7" name="Shape 5"/>
          <p:cNvSpPr/>
          <p:nvPr/>
        </p:nvSpPr>
        <p:spPr>
          <a:xfrm>
            <a:off x="640080" y="4343400"/>
            <a:ext cx="2514600" cy="0"/>
          </a:xfrm>
          <a:prstGeom prst="line">
            <a:avLst/>
          </a:prstGeom>
          <a:noFill/>
          <a:ln w="22225">
            <a:solidFill>
              <a:srgbClr val="1B1B1B"/>
            </a:solidFill>
            <a:prstDash val="solid"/>
          </a:ln>
        </p:spPr>
      </p:sp>
      <p:sp>
        <p:nvSpPr>
          <p:cNvPr id="8" name="Text 6"/>
          <p:cNvSpPr txBox="1"/>
          <p:nvPr/>
        </p:nvSpPr>
        <p:spPr>
          <a:xfrm>
            <a:off x="640080" y="4462272"/>
            <a:ext cx="2514600" cy="228600"/>
          </a:xfrm>
          <a:prstGeom prst="rect">
            <a:avLst/>
          </a:prstGeom>
          <a:noFill/>
          <a:ln/>
        </p:spPr>
        <p:txBody>
          <a:bodyPr wrap="square" lIns="0" tIns="0" rIns="0" bIns="0" rtlCol="0" anchor="ctr"/>
          <a:lstStyle/>
          <a:p>
            <a:pPr indent="0" marL="0">
              <a:buNone/>
            </a:pPr>
            <a:r>
              <a:rPr lang="en-US" sz="900" spc="200" kern="0" dirty="0">
                <a:solidFill>
                  <a:srgbClr val="B5532E"/>
                </a:solidFill>
                <a:latin typeface="Courier New" pitchFamily="34" charset="0"/>
                <a:ea typeface="Courier New" pitchFamily="34" charset="-122"/>
                <a:cs typeface="Courier New" pitchFamily="34" charset="-120"/>
              </a:rPr>
              <a:t>SENSE</a:t>
            </a:r>
            <a:endParaRPr lang="en-US" sz="900" dirty="0"/>
          </a:p>
        </p:txBody>
      </p:sp>
      <p:sp>
        <p:nvSpPr>
          <p:cNvPr id="9" name="Text 7"/>
          <p:cNvSpPr txBox="1"/>
          <p:nvPr/>
        </p:nvSpPr>
        <p:spPr>
          <a:xfrm>
            <a:off x="640080" y="4709160"/>
            <a:ext cx="2514600" cy="64008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Two ultrasonic sensors, IR, lid, RFID on an ESP32</a:t>
            </a:r>
            <a:endParaRPr lang="en-US" sz="1200" dirty="0"/>
          </a:p>
        </p:txBody>
      </p:sp>
      <p:sp>
        <p:nvSpPr>
          <p:cNvPr id="10" name="Shape 8"/>
          <p:cNvSpPr/>
          <p:nvPr/>
        </p:nvSpPr>
        <p:spPr>
          <a:xfrm>
            <a:off x="3383280" y="4343400"/>
            <a:ext cx="2514600" cy="0"/>
          </a:xfrm>
          <a:prstGeom prst="line">
            <a:avLst/>
          </a:prstGeom>
          <a:noFill/>
          <a:ln w="22225">
            <a:solidFill>
              <a:srgbClr val="1B1B1B"/>
            </a:solidFill>
            <a:prstDash val="solid"/>
          </a:ln>
        </p:spPr>
      </p:sp>
      <p:sp>
        <p:nvSpPr>
          <p:cNvPr id="11" name="Text 9"/>
          <p:cNvSpPr txBox="1"/>
          <p:nvPr/>
        </p:nvSpPr>
        <p:spPr>
          <a:xfrm>
            <a:off x="3383280" y="4462272"/>
            <a:ext cx="2514600" cy="228600"/>
          </a:xfrm>
          <a:prstGeom prst="rect">
            <a:avLst/>
          </a:prstGeom>
          <a:noFill/>
          <a:ln/>
        </p:spPr>
        <p:txBody>
          <a:bodyPr wrap="square" lIns="0" tIns="0" rIns="0" bIns="0" rtlCol="0" anchor="ctr"/>
          <a:lstStyle/>
          <a:p>
            <a:pPr indent="0" marL="0">
              <a:buNone/>
            </a:pPr>
            <a:r>
              <a:rPr lang="en-US" sz="900" spc="200" kern="0" dirty="0">
                <a:solidFill>
                  <a:srgbClr val="B5532E"/>
                </a:solidFill>
                <a:latin typeface="Courier New" pitchFamily="34" charset="0"/>
                <a:ea typeface="Courier New" pitchFamily="34" charset="-122"/>
                <a:cs typeface="Courier New" pitchFamily="34" charset="-120"/>
              </a:rPr>
              <a:t>VERIFY</a:t>
            </a:r>
            <a:endParaRPr lang="en-US" sz="900" dirty="0"/>
          </a:p>
        </p:txBody>
      </p:sp>
      <p:sp>
        <p:nvSpPr>
          <p:cNvPr id="12" name="Text 10"/>
          <p:cNvSpPr txBox="1"/>
          <p:nvPr/>
        </p:nvSpPr>
        <p:spPr>
          <a:xfrm>
            <a:off x="3383280" y="4709160"/>
            <a:ext cx="2514600" cy="64008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Sensor-fusion AI signs a verdict with its evidence</a:t>
            </a:r>
            <a:endParaRPr lang="en-US" sz="1200" dirty="0"/>
          </a:p>
        </p:txBody>
      </p:sp>
      <p:sp>
        <p:nvSpPr>
          <p:cNvPr id="13" name="Shape 11"/>
          <p:cNvSpPr/>
          <p:nvPr/>
        </p:nvSpPr>
        <p:spPr>
          <a:xfrm>
            <a:off x="6126480" y="4343400"/>
            <a:ext cx="2514600" cy="0"/>
          </a:xfrm>
          <a:prstGeom prst="line">
            <a:avLst/>
          </a:prstGeom>
          <a:noFill/>
          <a:ln w="22225">
            <a:solidFill>
              <a:srgbClr val="1B1B1B"/>
            </a:solidFill>
            <a:prstDash val="solid"/>
          </a:ln>
        </p:spPr>
      </p:sp>
      <p:sp>
        <p:nvSpPr>
          <p:cNvPr id="14" name="Text 12"/>
          <p:cNvSpPr txBox="1"/>
          <p:nvPr/>
        </p:nvSpPr>
        <p:spPr>
          <a:xfrm>
            <a:off x="6126480" y="4462272"/>
            <a:ext cx="2514600" cy="228600"/>
          </a:xfrm>
          <a:prstGeom prst="rect">
            <a:avLst/>
          </a:prstGeom>
          <a:noFill/>
          <a:ln/>
        </p:spPr>
        <p:txBody>
          <a:bodyPr wrap="square" lIns="0" tIns="0" rIns="0" bIns="0" rtlCol="0" anchor="ctr"/>
          <a:lstStyle/>
          <a:p>
            <a:pPr indent="0" marL="0">
              <a:buNone/>
            </a:pPr>
            <a:r>
              <a:rPr lang="en-US" sz="900" spc="200" kern="0" dirty="0">
                <a:solidFill>
                  <a:srgbClr val="B5532E"/>
                </a:solidFill>
                <a:latin typeface="Courier New" pitchFamily="34" charset="0"/>
                <a:ea typeface="Courier New" pitchFamily="34" charset="-122"/>
                <a:cs typeface="Courier New" pitchFamily="34" charset="-120"/>
              </a:rPr>
              <a:t>GATE</a:t>
            </a:r>
            <a:endParaRPr lang="en-US" sz="900" dirty="0"/>
          </a:p>
        </p:txBody>
      </p:sp>
      <p:sp>
        <p:nvSpPr>
          <p:cNvPr id="15" name="Text 13"/>
          <p:cNvSpPr txBox="1"/>
          <p:nvPr/>
        </p:nvSpPr>
        <p:spPr>
          <a:xfrm>
            <a:off x="6126480" y="4709160"/>
            <a:ext cx="2514600" cy="64008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No receipt, no effect: the lid won't open without one</a:t>
            </a:r>
            <a:endParaRPr lang="en-US" sz="1200" dirty="0"/>
          </a:p>
        </p:txBody>
      </p:sp>
      <p:sp>
        <p:nvSpPr>
          <p:cNvPr id="16" name="Shape 14"/>
          <p:cNvSpPr/>
          <p:nvPr/>
        </p:nvSpPr>
        <p:spPr>
          <a:xfrm>
            <a:off x="8869680" y="4343400"/>
            <a:ext cx="2514600" cy="0"/>
          </a:xfrm>
          <a:prstGeom prst="line">
            <a:avLst/>
          </a:prstGeom>
          <a:noFill/>
          <a:ln w="22225">
            <a:solidFill>
              <a:srgbClr val="1B1B1B"/>
            </a:solidFill>
            <a:prstDash val="solid"/>
          </a:ln>
        </p:spPr>
      </p:sp>
      <p:sp>
        <p:nvSpPr>
          <p:cNvPr id="17" name="Text 15"/>
          <p:cNvSpPr txBox="1"/>
          <p:nvPr/>
        </p:nvSpPr>
        <p:spPr>
          <a:xfrm>
            <a:off x="8869680" y="4462272"/>
            <a:ext cx="2514600" cy="228600"/>
          </a:xfrm>
          <a:prstGeom prst="rect">
            <a:avLst/>
          </a:prstGeom>
          <a:noFill/>
          <a:ln/>
        </p:spPr>
        <p:txBody>
          <a:bodyPr wrap="square" lIns="0" tIns="0" rIns="0" bIns="0" rtlCol="0" anchor="ctr"/>
          <a:lstStyle/>
          <a:p>
            <a:pPr indent="0" marL="0">
              <a:buNone/>
            </a:pPr>
            <a:r>
              <a:rPr lang="en-US" sz="900" spc="200" kern="0" dirty="0">
                <a:solidFill>
                  <a:srgbClr val="B5532E"/>
                </a:solidFill>
                <a:latin typeface="Courier New" pitchFamily="34" charset="0"/>
                <a:ea typeface="Courier New" pitchFamily="34" charset="-122"/>
                <a:cs typeface="Courier New" pitchFamily="34" charset="-120"/>
              </a:rPr>
              <a:t>SETTLE</a:t>
            </a:r>
            <a:endParaRPr lang="en-US" sz="900" dirty="0"/>
          </a:p>
        </p:txBody>
      </p:sp>
      <p:sp>
        <p:nvSpPr>
          <p:cNvPr id="18" name="Text 16"/>
          <p:cNvSpPr txBox="1"/>
          <p:nvPr/>
        </p:nvSpPr>
        <p:spPr>
          <a:xfrm>
            <a:off x="8869680" y="4709160"/>
            <a:ext cx="2514600" cy="64008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Escrow on MST; slashed if anything is omitted</a:t>
            </a:r>
            <a:endParaRPr lang="en-US" sz="1200" dirty="0"/>
          </a:p>
        </p:txBody>
      </p:sp>
      <p:sp>
        <p:nvSpPr>
          <p:cNvPr id="19" name="Text 17"/>
          <p:cNvSpPr txBox="1"/>
          <p:nvPr/>
        </p:nvSpPr>
        <p:spPr>
          <a:xfrm>
            <a:off x="640080" y="5669280"/>
            <a:ext cx="1005840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Team Ghostless  ·  Hirthik Balaji · Anandhappriya · Jyothi · Lakshaya Sasikumar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01 · THE PROBLEM</a:t>
            </a:r>
            <a:endParaRPr lang="en-US" sz="1000" dirty="0"/>
          </a:p>
        </p:txBody>
      </p:sp>
      <p:sp>
        <p:nvSpPr>
          <p:cNvPr id="3" name="Text 1"/>
          <p:cNvSpPr txBox="1"/>
          <p:nvPr/>
        </p:nvSpPr>
        <p:spPr>
          <a:xfrm>
            <a:off x="640080" y="731520"/>
            <a:ext cx="1051560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Cities pay for work nobody can see, and the worst fraud leaves no record at all.</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02</a:t>
            </a:r>
            <a:endParaRPr lang="en-US" sz="800" dirty="0"/>
          </a:p>
        </p:txBody>
      </p:sp>
      <p:sp>
        <p:nvSpPr>
          <p:cNvPr id="6" name="Shape 4"/>
          <p:cNvSpPr/>
          <p:nvPr/>
        </p:nvSpPr>
        <p:spPr>
          <a:xfrm>
            <a:off x="640080" y="2148840"/>
            <a:ext cx="5120640" cy="0"/>
          </a:xfrm>
          <a:prstGeom prst="line">
            <a:avLst/>
          </a:prstGeom>
          <a:noFill/>
          <a:ln w="22225">
            <a:solidFill>
              <a:srgbClr val="1B1B1B"/>
            </a:solidFill>
            <a:prstDash val="solid"/>
          </a:ln>
        </p:spPr>
      </p:sp>
      <p:sp>
        <p:nvSpPr>
          <p:cNvPr id="7" name="Text 5"/>
          <p:cNvSpPr txBox="1"/>
          <p:nvPr/>
        </p:nvSpPr>
        <p:spPr>
          <a:xfrm>
            <a:off x="640080" y="2258568"/>
            <a:ext cx="5120640" cy="36576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Ghost pickups</a:t>
            </a:r>
            <a:endParaRPr lang="en-US" sz="1600" dirty="0"/>
          </a:p>
        </p:txBody>
      </p:sp>
      <p:sp>
        <p:nvSpPr>
          <p:cNvPr id="8" name="Text 6"/>
          <p:cNvSpPr txBox="1"/>
          <p:nvPr/>
        </p:nvSpPr>
        <p:spPr>
          <a:xfrm>
            <a:off x="640080" y="2624328"/>
            <a:ext cx="5120640" cy="82296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A hauler bills for a collection that never happened. The only proof is a paper slip or a WhatsApp photo, easy to fake and impossible to audit.</a:t>
            </a:r>
            <a:endParaRPr lang="en-US" sz="1200" dirty="0"/>
          </a:p>
        </p:txBody>
      </p:sp>
      <p:sp>
        <p:nvSpPr>
          <p:cNvPr id="9" name="Shape 7"/>
          <p:cNvSpPr/>
          <p:nvPr/>
        </p:nvSpPr>
        <p:spPr>
          <a:xfrm>
            <a:off x="640080" y="3520440"/>
            <a:ext cx="5120640" cy="0"/>
          </a:xfrm>
          <a:prstGeom prst="line">
            <a:avLst/>
          </a:prstGeom>
          <a:noFill/>
          <a:ln w="22225">
            <a:solidFill>
              <a:srgbClr val="1B1B1B"/>
            </a:solidFill>
            <a:prstDash val="solid"/>
          </a:ln>
        </p:spPr>
      </p:sp>
      <p:sp>
        <p:nvSpPr>
          <p:cNvPr id="10" name="Text 8"/>
          <p:cNvSpPr txBox="1"/>
          <p:nvPr/>
        </p:nvSpPr>
        <p:spPr>
          <a:xfrm>
            <a:off x="640080" y="3630168"/>
            <a:ext cx="5120640" cy="36576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Ghost omissions</a:t>
            </a:r>
            <a:endParaRPr lang="en-US" sz="1600" dirty="0"/>
          </a:p>
        </p:txBody>
      </p:sp>
      <p:sp>
        <p:nvSpPr>
          <p:cNvPr id="11" name="Text 9"/>
          <p:cNvSpPr txBox="1"/>
          <p:nvPr/>
        </p:nvSpPr>
        <p:spPr>
          <a:xfrm>
            <a:off x="640080" y="3995928"/>
            <a:ext cx="5120640" cy="82296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A full bin is quietly never logged. A complaint is dropped before it reaches the record. Nothing was edited, so every audit log looks clean.</a:t>
            </a:r>
            <a:endParaRPr lang="en-US" sz="1200" dirty="0"/>
          </a:p>
        </p:txBody>
      </p:sp>
      <p:sp>
        <p:nvSpPr>
          <p:cNvPr id="12" name="Shape 10"/>
          <p:cNvSpPr/>
          <p:nvPr/>
        </p:nvSpPr>
        <p:spPr>
          <a:xfrm>
            <a:off x="640080" y="4892040"/>
            <a:ext cx="5120640" cy="0"/>
          </a:xfrm>
          <a:prstGeom prst="line">
            <a:avLst/>
          </a:prstGeom>
          <a:noFill/>
          <a:ln w="22225">
            <a:solidFill>
              <a:srgbClr val="1B1B1B"/>
            </a:solidFill>
            <a:prstDash val="solid"/>
          </a:ln>
        </p:spPr>
      </p:sp>
      <p:sp>
        <p:nvSpPr>
          <p:cNvPr id="13" name="Text 11"/>
          <p:cNvSpPr txBox="1"/>
          <p:nvPr/>
        </p:nvSpPr>
        <p:spPr>
          <a:xfrm>
            <a:off x="640080" y="5001768"/>
            <a:ext cx="5120640" cy="365760"/>
          </a:xfrm>
          <a:prstGeom prst="rect">
            <a:avLst/>
          </a:prstGeom>
          <a:noFill/>
          <a:ln/>
        </p:spPr>
        <p:txBody>
          <a:bodyPr wrap="square" lIns="0" tIns="0" rIns="0" bIns="0" rtlCol="0" anchor="ctr"/>
          <a:lstStyle/>
          <a:p>
            <a:pPr indent="0" marL="0">
              <a:buNone/>
            </a:pPr>
            <a:r>
              <a:rPr lang="en-US" sz="1600" b="1" dirty="0">
                <a:solidFill>
                  <a:srgbClr val="B5532E"/>
                </a:solidFill>
                <a:latin typeface="Cambria" pitchFamily="34" charset="0"/>
                <a:ea typeface="Cambria" pitchFamily="34" charset="-122"/>
                <a:cs typeface="Cambria" pitchFamily="34" charset="-120"/>
              </a:rPr>
              <a:t>Blockchains don't fix this yet</a:t>
            </a:r>
            <a:endParaRPr lang="en-US" sz="1600" dirty="0"/>
          </a:p>
        </p:txBody>
      </p:sp>
      <p:sp>
        <p:nvSpPr>
          <p:cNvPr id="14" name="Text 12"/>
          <p:cNvSpPr txBox="1"/>
          <p:nvPr/>
        </p:nvSpPr>
        <p:spPr>
          <a:xfrm>
            <a:off x="640080" y="5367528"/>
            <a:ext cx="5120640" cy="82296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A ledger proves that what was written wasn't changed. It cannot prove that nothing was left out.</a:t>
            </a:r>
            <a:endParaRPr lang="en-US" sz="1200" dirty="0"/>
          </a:p>
        </p:txBody>
      </p:sp>
      <p:sp>
        <p:nvSpPr>
          <p:cNvPr id="15" name="Shape 13"/>
          <p:cNvSpPr/>
          <p:nvPr/>
        </p:nvSpPr>
        <p:spPr>
          <a:xfrm>
            <a:off x="6400800" y="2148840"/>
            <a:ext cx="5120640" cy="3840480"/>
          </a:xfrm>
          <a:prstGeom prst="rect">
            <a:avLst/>
          </a:prstGeom>
          <a:solidFill>
            <a:srgbClr val="FFFFFF"/>
          </a:solidFill>
          <a:ln w="9525">
            <a:solidFill>
              <a:srgbClr val="D9D7CF"/>
            </a:solidFill>
            <a:prstDash val="solid"/>
          </a:ln>
        </p:spPr>
      </p:sp>
      <p:sp>
        <p:nvSpPr>
          <p:cNvPr id="16" name="Text 14"/>
          <p:cNvSpPr txBox="1"/>
          <p:nvPr/>
        </p:nvSpPr>
        <p:spPr>
          <a:xfrm>
            <a:off x="6675120" y="2331720"/>
            <a:ext cx="4572000" cy="228600"/>
          </a:xfrm>
          <a:prstGeom prst="rect">
            <a:avLst/>
          </a:prstGeom>
          <a:noFill/>
          <a:ln/>
        </p:spPr>
        <p:txBody>
          <a:bodyPr wrap="square" lIns="0" tIns="0" rIns="0" bIns="0" rtlCol="0" anchor="ctr"/>
          <a:lstStyle/>
          <a:p>
            <a:pPr indent="0" marL="0">
              <a:buNone/>
            </a:pPr>
            <a:r>
              <a:rPr lang="en-US" sz="900" spc="150" kern="0" dirty="0">
                <a:solidFill>
                  <a:srgbClr val="8A8883"/>
                </a:solidFill>
                <a:latin typeface="Courier New" pitchFamily="34" charset="0"/>
                <a:ea typeface="Courier New" pitchFamily="34" charset="-122"/>
                <a:cs typeface="Courier New" pitchFamily="34" charset="-120"/>
              </a:rPr>
              <a:t>WHAT A NORMAL AUDIT LOG SEES</a:t>
            </a:r>
            <a:endParaRPr lang="en-US" sz="900" dirty="0"/>
          </a:p>
        </p:txBody>
      </p:sp>
      <p:sp>
        <p:nvSpPr>
          <p:cNvPr id="17" name="Text 15"/>
          <p:cNvSpPr txBox="1"/>
          <p:nvPr/>
        </p:nvSpPr>
        <p:spPr>
          <a:xfrm>
            <a:off x="6675120" y="2743200"/>
            <a:ext cx="731520" cy="411480"/>
          </a:xfrm>
          <a:prstGeom prst="rect">
            <a:avLst/>
          </a:prstGeom>
          <a:noFill/>
          <a:ln/>
        </p:spPr>
        <p:txBody>
          <a:bodyPr wrap="square" lIns="0" tIns="0" rIns="0" bIns="0" rtlCol="0" anchor="ctr"/>
          <a:lstStyle/>
          <a:p>
            <a:pPr indent="0" marL="0">
              <a:buNone/>
            </a:pPr>
            <a:r>
              <a:rPr lang="en-US" sz="1200" dirty="0">
                <a:solidFill>
                  <a:srgbClr val="1B1B1B"/>
                </a:solidFill>
                <a:latin typeface="Courier New" pitchFamily="34" charset="0"/>
                <a:ea typeface="Courier New" pitchFamily="34" charset="-122"/>
                <a:cs typeface="Courier New" pitchFamily="34" charset="-120"/>
              </a:rPr>
              <a:t>#101</a:t>
            </a:r>
            <a:endParaRPr lang="en-US" sz="1200" dirty="0"/>
          </a:p>
        </p:txBody>
      </p:sp>
      <p:sp>
        <p:nvSpPr>
          <p:cNvPr id="18" name="Text 16"/>
          <p:cNvSpPr txBox="1"/>
          <p:nvPr/>
        </p:nvSpPr>
        <p:spPr>
          <a:xfrm>
            <a:off x="7406640" y="2743200"/>
            <a:ext cx="2926080" cy="41148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BIN-004 collected</a:t>
            </a:r>
            <a:endParaRPr lang="en-US" sz="1300" dirty="0"/>
          </a:p>
        </p:txBody>
      </p:sp>
      <p:sp>
        <p:nvSpPr>
          <p:cNvPr id="19" name="Text 17"/>
          <p:cNvSpPr txBox="1"/>
          <p:nvPr/>
        </p:nvSpPr>
        <p:spPr>
          <a:xfrm>
            <a:off x="10332720" y="2743200"/>
            <a:ext cx="914400" cy="411480"/>
          </a:xfrm>
          <a:prstGeom prst="rect">
            <a:avLst/>
          </a:prstGeom>
          <a:noFill/>
          <a:ln/>
        </p:spPr>
        <p:txBody>
          <a:bodyPr wrap="square" lIns="0" tIns="0" rIns="0" bIns="0" rtlCol="0" anchor="ctr"/>
          <a:lstStyle/>
          <a:p>
            <a:pPr algn="r" indent="0" marL="0">
              <a:buNone/>
            </a:pPr>
            <a:r>
              <a:rPr lang="en-US" sz="1300" b="1" dirty="0">
                <a:solidFill>
                  <a:srgbClr val="2F7A4F"/>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6675120" y="3310128"/>
            <a:ext cx="731520" cy="411480"/>
          </a:xfrm>
          <a:prstGeom prst="rect">
            <a:avLst/>
          </a:prstGeom>
          <a:noFill/>
          <a:ln/>
        </p:spPr>
        <p:txBody>
          <a:bodyPr wrap="square" lIns="0" tIns="0" rIns="0" bIns="0" rtlCol="0" anchor="ctr"/>
          <a:lstStyle/>
          <a:p>
            <a:pPr indent="0" marL="0">
              <a:buNone/>
            </a:pPr>
            <a:r>
              <a:rPr lang="en-US" sz="1200" dirty="0">
                <a:solidFill>
                  <a:srgbClr val="1B1B1B"/>
                </a:solidFill>
                <a:latin typeface="Courier New" pitchFamily="34" charset="0"/>
                <a:ea typeface="Courier New" pitchFamily="34" charset="-122"/>
                <a:cs typeface="Courier New" pitchFamily="34" charset="-120"/>
              </a:rPr>
              <a:t>#102</a:t>
            </a:r>
            <a:endParaRPr lang="en-US" sz="1200" dirty="0"/>
          </a:p>
        </p:txBody>
      </p:sp>
      <p:sp>
        <p:nvSpPr>
          <p:cNvPr id="21" name="Text 19"/>
          <p:cNvSpPr txBox="1"/>
          <p:nvPr/>
        </p:nvSpPr>
        <p:spPr>
          <a:xfrm>
            <a:off x="7406640" y="3310128"/>
            <a:ext cx="2926080" cy="41148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BIN-011 collected</a:t>
            </a:r>
            <a:endParaRPr lang="en-US" sz="1300" dirty="0"/>
          </a:p>
        </p:txBody>
      </p:sp>
      <p:sp>
        <p:nvSpPr>
          <p:cNvPr id="22" name="Text 20"/>
          <p:cNvSpPr txBox="1"/>
          <p:nvPr/>
        </p:nvSpPr>
        <p:spPr>
          <a:xfrm>
            <a:off x="10332720" y="3310128"/>
            <a:ext cx="914400" cy="411480"/>
          </a:xfrm>
          <a:prstGeom prst="rect">
            <a:avLst/>
          </a:prstGeom>
          <a:noFill/>
          <a:ln/>
        </p:spPr>
        <p:txBody>
          <a:bodyPr wrap="square" lIns="0" tIns="0" rIns="0" bIns="0" rtlCol="0" anchor="ctr"/>
          <a:lstStyle/>
          <a:p>
            <a:pPr algn="r" indent="0" marL="0">
              <a:buNone/>
            </a:pPr>
            <a:r>
              <a:rPr lang="en-US" sz="1300" b="1" dirty="0">
                <a:solidFill>
                  <a:srgbClr val="2F7A4F"/>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6675120" y="3877056"/>
            <a:ext cx="731520" cy="411480"/>
          </a:xfrm>
          <a:prstGeom prst="rect">
            <a:avLst/>
          </a:prstGeom>
          <a:noFill/>
          <a:ln/>
        </p:spPr>
        <p:txBody>
          <a:bodyPr wrap="square" lIns="0" tIns="0" rIns="0" bIns="0" rtlCol="0" anchor="ctr"/>
          <a:lstStyle/>
          <a:p>
            <a:pPr indent="0" marL="0">
              <a:buNone/>
            </a:pPr>
            <a:r>
              <a:rPr lang="en-US" sz="1200" dirty="0">
                <a:solidFill>
                  <a:srgbClr val="8A8883"/>
                </a:solidFill>
                <a:latin typeface="Courier New" pitchFamily="34" charset="0"/>
                <a:ea typeface="Courier New" pitchFamily="34" charset="-122"/>
                <a:cs typeface="Courier New" pitchFamily="34" charset="-120"/>
              </a:rPr>
              <a:t>#103</a:t>
            </a:r>
            <a:endParaRPr lang="en-US" sz="1200" dirty="0"/>
          </a:p>
        </p:txBody>
      </p:sp>
      <p:sp>
        <p:nvSpPr>
          <p:cNvPr id="24" name="Text 22"/>
          <p:cNvSpPr txBox="1"/>
          <p:nvPr/>
        </p:nvSpPr>
        <p:spPr>
          <a:xfrm>
            <a:off x="7406640" y="3877056"/>
            <a:ext cx="2926080" cy="411480"/>
          </a:xfrm>
          <a:prstGeom prst="rect">
            <a:avLst/>
          </a:prstGeom>
          <a:noFill/>
          <a:ln/>
        </p:spPr>
        <p:txBody>
          <a:bodyPr wrap="square" lIns="0" tIns="0" rIns="0" bIns="0" rtlCol="0" anchor="ctr"/>
          <a:lstStyle/>
          <a:p>
            <a:pPr indent="0" marL="0">
              <a:buNone/>
            </a:pPr>
            <a:r>
              <a:rPr lang="en-US" sz="1300" i="1" dirty="0">
                <a:solidFill>
                  <a:srgbClr val="8A8883"/>
                </a:solidFill>
                <a:latin typeface="Calibri" pitchFamily="34" charset="0"/>
                <a:ea typeface="Calibri" pitchFamily="34" charset="-122"/>
                <a:cs typeface="Calibri" pitchFamily="34" charset="-120"/>
              </a:rPr>
              <a:t>BIN-019 full: never written</a:t>
            </a:r>
            <a:endParaRPr lang="en-US" sz="1300" dirty="0"/>
          </a:p>
        </p:txBody>
      </p:sp>
      <p:sp>
        <p:nvSpPr>
          <p:cNvPr id="25" name="Text 23"/>
          <p:cNvSpPr txBox="1"/>
          <p:nvPr/>
        </p:nvSpPr>
        <p:spPr>
          <a:xfrm>
            <a:off x="10332720" y="3877056"/>
            <a:ext cx="914400" cy="411480"/>
          </a:xfrm>
          <a:prstGeom prst="rect">
            <a:avLst/>
          </a:prstGeom>
          <a:noFill/>
          <a:ln/>
        </p:spPr>
        <p:txBody>
          <a:bodyPr wrap="square" lIns="0" tIns="0" rIns="0" bIns="0" rtlCol="0" anchor="ctr"/>
          <a:lstStyle/>
          <a:p>
            <a:pPr algn="r" indent="0" marL="0">
              <a:buNone/>
            </a:pPr>
            <a:r>
              <a:rPr lang="en-US" sz="1300" b="1" dirty="0">
                <a:solidFill>
                  <a:srgbClr val="B5532E"/>
                </a:solidFill>
                <a:latin typeface="Calibri" pitchFamily="34" charset="0"/>
                <a:ea typeface="Calibri" pitchFamily="34" charset="-122"/>
                <a:cs typeface="Calibri" pitchFamily="34" charset="-120"/>
              </a:rPr>
              <a:t>✓ ?</a:t>
            </a:r>
            <a:endParaRPr lang="en-US" sz="1300" dirty="0"/>
          </a:p>
        </p:txBody>
      </p:sp>
      <p:sp>
        <p:nvSpPr>
          <p:cNvPr id="26" name="Text 24"/>
          <p:cNvSpPr txBox="1"/>
          <p:nvPr/>
        </p:nvSpPr>
        <p:spPr>
          <a:xfrm>
            <a:off x="6675120" y="4443984"/>
            <a:ext cx="731520" cy="411480"/>
          </a:xfrm>
          <a:prstGeom prst="rect">
            <a:avLst/>
          </a:prstGeom>
          <a:noFill/>
          <a:ln/>
        </p:spPr>
        <p:txBody>
          <a:bodyPr wrap="square" lIns="0" tIns="0" rIns="0" bIns="0" rtlCol="0" anchor="ctr"/>
          <a:lstStyle/>
          <a:p>
            <a:pPr indent="0" marL="0">
              <a:buNone/>
            </a:pPr>
            <a:r>
              <a:rPr lang="en-US" sz="1200" dirty="0">
                <a:solidFill>
                  <a:srgbClr val="1B1B1B"/>
                </a:solidFill>
                <a:latin typeface="Courier New" pitchFamily="34" charset="0"/>
                <a:ea typeface="Courier New" pitchFamily="34" charset="-122"/>
                <a:cs typeface="Courier New" pitchFamily="34" charset="-120"/>
              </a:rPr>
              <a:t>#104</a:t>
            </a:r>
            <a:endParaRPr lang="en-US" sz="1200" dirty="0"/>
          </a:p>
        </p:txBody>
      </p:sp>
      <p:sp>
        <p:nvSpPr>
          <p:cNvPr id="27" name="Text 25"/>
          <p:cNvSpPr txBox="1"/>
          <p:nvPr/>
        </p:nvSpPr>
        <p:spPr>
          <a:xfrm>
            <a:off x="7406640" y="4443984"/>
            <a:ext cx="2926080" cy="41148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BIN-022 collected, paid</a:t>
            </a:r>
            <a:endParaRPr lang="en-US" sz="1300" dirty="0"/>
          </a:p>
        </p:txBody>
      </p:sp>
      <p:sp>
        <p:nvSpPr>
          <p:cNvPr id="28" name="Text 26"/>
          <p:cNvSpPr txBox="1"/>
          <p:nvPr/>
        </p:nvSpPr>
        <p:spPr>
          <a:xfrm>
            <a:off x="10332720" y="4443984"/>
            <a:ext cx="914400" cy="411480"/>
          </a:xfrm>
          <a:prstGeom prst="rect">
            <a:avLst/>
          </a:prstGeom>
          <a:noFill/>
          <a:ln/>
        </p:spPr>
        <p:txBody>
          <a:bodyPr wrap="square" lIns="0" tIns="0" rIns="0" bIns="0" rtlCol="0" anchor="ctr"/>
          <a:lstStyle/>
          <a:p>
            <a:pPr algn="r" indent="0" marL="0">
              <a:buNone/>
            </a:pPr>
            <a:r>
              <a:rPr lang="en-US" sz="1300" b="1" dirty="0">
                <a:solidFill>
                  <a:srgbClr val="B5532E"/>
                </a:solidFill>
                <a:latin typeface="Calibri" pitchFamily="34" charset="0"/>
                <a:ea typeface="Calibri" pitchFamily="34" charset="-122"/>
                <a:cs typeface="Calibri" pitchFamily="34" charset="-120"/>
              </a:rPr>
              <a:t>✓ ?</a:t>
            </a:r>
            <a:endParaRPr lang="en-US" sz="1300" dirty="0"/>
          </a:p>
        </p:txBody>
      </p:sp>
      <p:sp>
        <p:nvSpPr>
          <p:cNvPr id="29" name="Text 27"/>
          <p:cNvSpPr txBox="1"/>
          <p:nvPr/>
        </p:nvSpPr>
        <p:spPr>
          <a:xfrm>
            <a:off x="6675120" y="5010912"/>
            <a:ext cx="731520" cy="411480"/>
          </a:xfrm>
          <a:prstGeom prst="rect">
            <a:avLst/>
          </a:prstGeom>
          <a:noFill/>
          <a:ln/>
        </p:spPr>
        <p:txBody>
          <a:bodyPr wrap="square" lIns="0" tIns="0" rIns="0" bIns="0" rtlCol="0" anchor="ctr"/>
          <a:lstStyle/>
          <a:p>
            <a:pPr indent="0" marL="0">
              <a:buNone/>
            </a:pPr>
            <a:r>
              <a:rPr lang="en-US" sz="1200" dirty="0">
                <a:solidFill>
                  <a:srgbClr val="1B1B1B"/>
                </a:solidFill>
                <a:latin typeface="Courier New" pitchFamily="34" charset="0"/>
                <a:ea typeface="Courier New" pitchFamily="34" charset="-122"/>
                <a:cs typeface="Courier New" pitchFamily="34" charset="-120"/>
              </a:rPr>
              <a:t>#105</a:t>
            </a:r>
            <a:endParaRPr lang="en-US" sz="1200" dirty="0"/>
          </a:p>
        </p:txBody>
      </p:sp>
      <p:sp>
        <p:nvSpPr>
          <p:cNvPr id="30" name="Text 28"/>
          <p:cNvSpPr txBox="1"/>
          <p:nvPr/>
        </p:nvSpPr>
        <p:spPr>
          <a:xfrm>
            <a:off x="7406640" y="5010912"/>
            <a:ext cx="2926080" cy="41148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BIN-007 collected</a:t>
            </a:r>
            <a:endParaRPr lang="en-US" sz="1300" dirty="0"/>
          </a:p>
        </p:txBody>
      </p:sp>
      <p:sp>
        <p:nvSpPr>
          <p:cNvPr id="31" name="Text 29"/>
          <p:cNvSpPr txBox="1"/>
          <p:nvPr/>
        </p:nvSpPr>
        <p:spPr>
          <a:xfrm>
            <a:off x="10332720" y="5010912"/>
            <a:ext cx="914400" cy="411480"/>
          </a:xfrm>
          <a:prstGeom prst="rect">
            <a:avLst/>
          </a:prstGeom>
          <a:noFill/>
          <a:ln/>
        </p:spPr>
        <p:txBody>
          <a:bodyPr wrap="square" lIns="0" tIns="0" rIns="0" bIns="0" rtlCol="0" anchor="ctr"/>
          <a:lstStyle/>
          <a:p>
            <a:pPr algn="r" indent="0" marL="0">
              <a:buNone/>
            </a:pPr>
            <a:r>
              <a:rPr lang="en-US" sz="1300" b="1" dirty="0">
                <a:solidFill>
                  <a:srgbClr val="2F7A4F"/>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6675120" y="5532120"/>
            <a:ext cx="4663440" cy="365760"/>
          </a:xfrm>
          <a:prstGeom prst="rect">
            <a:avLst/>
          </a:prstGeom>
          <a:noFill/>
          <a:ln/>
        </p:spPr>
        <p:txBody>
          <a:bodyPr wrap="square" lIns="0" tIns="0" rIns="0" bIns="0" rtlCol="0" anchor="ctr"/>
          <a:lstStyle/>
          <a:p>
            <a:pPr indent="0" marL="0">
              <a:buNone/>
            </a:pPr>
            <a:r>
              <a:rPr lang="en-US" sz="1250" i="1" dirty="0">
                <a:solidFill>
                  <a:srgbClr val="B5532E"/>
                </a:solidFill>
                <a:latin typeface="Cambria" pitchFamily="34" charset="0"/>
                <a:ea typeface="Cambria" pitchFamily="34" charset="-122"/>
                <a:cs typeface="Cambria" pitchFamily="34" charset="-120"/>
              </a:rPr>
              <a:t>Both frauds pass the audit. The log is "tamper-proof" and still wrong.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02 · THE INSIGHT</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Two proofs, not one.</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03</a:t>
            </a:r>
            <a:endParaRPr lang="en-US" sz="800" dirty="0"/>
          </a:p>
        </p:txBody>
      </p:sp>
      <p:sp>
        <p:nvSpPr>
          <p:cNvPr id="6" name="Shape 4"/>
          <p:cNvSpPr/>
          <p:nvPr/>
        </p:nvSpPr>
        <p:spPr>
          <a:xfrm>
            <a:off x="640080" y="1828800"/>
            <a:ext cx="5303520" cy="3566160"/>
          </a:xfrm>
          <a:prstGeom prst="rect">
            <a:avLst/>
          </a:prstGeom>
          <a:solidFill>
            <a:srgbClr val="FFFFFF"/>
          </a:solidFill>
          <a:ln w="9525">
            <a:solidFill>
              <a:srgbClr val="D9D7CF"/>
            </a:solidFill>
            <a:prstDash val="solid"/>
          </a:ln>
        </p:spPr>
      </p:sp>
      <p:sp>
        <p:nvSpPr>
          <p:cNvPr id="7" name="Text 5"/>
          <p:cNvSpPr txBox="1"/>
          <p:nvPr/>
        </p:nvSpPr>
        <p:spPr>
          <a:xfrm>
            <a:off x="960120" y="2103120"/>
            <a:ext cx="4572000" cy="274320"/>
          </a:xfrm>
          <a:prstGeom prst="rect">
            <a:avLst/>
          </a:prstGeom>
          <a:noFill/>
          <a:ln/>
        </p:spPr>
        <p:txBody>
          <a:bodyPr wrap="square" lIns="0" tIns="0" rIns="0" bIns="0" rtlCol="0" anchor="ctr"/>
          <a:lstStyle/>
          <a:p>
            <a:pPr indent="0" marL="0">
              <a:buNone/>
            </a:pPr>
            <a:r>
              <a:rPr lang="en-US" sz="1000" b="1" spc="200" kern="0" dirty="0">
                <a:solidFill>
                  <a:srgbClr val="3D6E78"/>
                </a:solidFill>
                <a:latin typeface="Courier New" pitchFamily="34" charset="0"/>
                <a:ea typeface="Courier New" pitchFamily="34" charset="-122"/>
                <a:cs typeface="Courier New" pitchFamily="34" charset="-120"/>
              </a:rPr>
              <a:t>PROOF OF SERVICE</a:t>
            </a:r>
            <a:endParaRPr lang="en-US" sz="1000" dirty="0"/>
          </a:p>
        </p:txBody>
      </p:sp>
      <p:sp>
        <p:nvSpPr>
          <p:cNvPr id="8" name="Text 6"/>
          <p:cNvSpPr txBox="1"/>
          <p:nvPr/>
        </p:nvSpPr>
        <p:spPr>
          <a:xfrm>
            <a:off x="960120" y="2468880"/>
            <a:ext cx="4663440" cy="548640"/>
          </a:xfrm>
          <a:prstGeom prst="rect">
            <a:avLst/>
          </a:prstGeom>
          <a:noFill/>
          <a:ln/>
        </p:spPr>
        <p:txBody>
          <a:bodyPr wrap="square" lIns="0" tIns="0" rIns="0" bIns="0" rtlCol="0" anchor="ctr"/>
          <a:lstStyle/>
          <a:p>
            <a:pPr indent="0" marL="0">
              <a:buNone/>
            </a:pPr>
            <a:r>
              <a:rPr lang="en-US" sz="2400" b="1" dirty="0">
                <a:solidFill>
                  <a:srgbClr val="1B1B1B"/>
                </a:solidFill>
                <a:latin typeface="Cambria" pitchFamily="34" charset="0"/>
                <a:ea typeface="Cambria" pitchFamily="34" charset="-122"/>
                <a:cs typeface="Cambria" pitchFamily="34" charset="-120"/>
              </a:rPr>
              <a:t>Did the work happen?</a:t>
            </a:r>
            <a:endParaRPr lang="en-US" sz="2400" dirty="0"/>
          </a:p>
        </p:txBody>
      </p:sp>
      <p:sp>
        <p:nvSpPr>
          <p:cNvPr id="9" name="Text 7"/>
          <p:cNvSpPr txBox="1"/>
          <p:nvPr/>
        </p:nvSpPr>
        <p:spPr>
          <a:xfrm>
            <a:off x="960120" y="3154680"/>
            <a:ext cx="4663440" cy="2011680"/>
          </a:xfrm>
          <a:prstGeom prst="rect">
            <a:avLst/>
          </a:prstGeom>
          <a:noFill/>
          <a:ln/>
        </p:spPr>
        <p:txBody>
          <a:bodyPr wrap="square" lIns="0" tIns="0" rIns="0" bIns="0" rtlCol="0" anchor="t"/>
          <a:lstStyle/>
          <a:p>
            <a:pPr indent="0" marL="0">
              <a:buNone/>
            </a:pPr>
            <a:r>
              <a:rPr lang="en-US" sz="1400" dirty="0">
                <a:solidFill>
                  <a:srgbClr val="4A4A48"/>
                </a:solidFill>
                <a:latin typeface="Calibri" pitchFamily="34" charset="0"/>
                <a:ea typeface="Calibri" pitchFamily="34" charset="-122"/>
                <a:cs typeface="Calibri" pitchFamily="34" charset="-120"/>
              </a:rPr>
              <a:t>The bin measures itself. Both ultrasonic sensors see the level fall 95% → 10% while the lid is open, the assigned worker's RFID card is on the record, and the device signs the evidence. Nobody types "done".</a:t>
            </a:r>
            <a:endParaRPr lang="en-US" sz="1400" dirty="0"/>
          </a:p>
        </p:txBody>
      </p:sp>
      <p:sp>
        <p:nvSpPr>
          <p:cNvPr id="10" name="Shape 8"/>
          <p:cNvSpPr/>
          <p:nvPr/>
        </p:nvSpPr>
        <p:spPr>
          <a:xfrm>
            <a:off x="6217920" y="1828800"/>
            <a:ext cx="5303520" cy="3566160"/>
          </a:xfrm>
          <a:prstGeom prst="rect">
            <a:avLst/>
          </a:prstGeom>
          <a:solidFill>
            <a:srgbClr val="FFFFFF"/>
          </a:solidFill>
          <a:ln w="9525">
            <a:solidFill>
              <a:srgbClr val="D9D7CF"/>
            </a:solidFill>
            <a:prstDash val="solid"/>
          </a:ln>
        </p:spPr>
      </p:sp>
      <p:sp>
        <p:nvSpPr>
          <p:cNvPr id="11" name="Text 9"/>
          <p:cNvSpPr txBox="1"/>
          <p:nvPr/>
        </p:nvSpPr>
        <p:spPr>
          <a:xfrm>
            <a:off x="6537960" y="2103120"/>
            <a:ext cx="4572000" cy="274320"/>
          </a:xfrm>
          <a:prstGeom prst="rect">
            <a:avLst/>
          </a:prstGeom>
          <a:noFill/>
          <a:ln/>
        </p:spPr>
        <p:txBody>
          <a:bodyPr wrap="square" lIns="0" tIns="0" rIns="0" bIns="0" rtlCol="0" anchor="ctr"/>
          <a:lstStyle/>
          <a:p>
            <a:pPr indent="0" marL="0">
              <a:buNone/>
            </a:pPr>
            <a:r>
              <a:rPr lang="en-US" sz="1000" b="1" spc="200" kern="0" dirty="0">
                <a:solidFill>
                  <a:srgbClr val="B5532E"/>
                </a:solidFill>
                <a:latin typeface="Courier New" pitchFamily="34" charset="0"/>
                <a:ea typeface="Courier New" pitchFamily="34" charset="-122"/>
                <a:cs typeface="Courier New" pitchFamily="34" charset="-120"/>
              </a:rPr>
              <a:t>PROOF OF NON-OMISSION</a:t>
            </a:r>
            <a:endParaRPr lang="en-US" sz="1000" dirty="0"/>
          </a:p>
        </p:txBody>
      </p:sp>
      <p:sp>
        <p:nvSpPr>
          <p:cNvPr id="12" name="Text 10"/>
          <p:cNvSpPr txBox="1"/>
          <p:nvPr/>
        </p:nvSpPr>
        <p:spPr>
          <a:xfrm>
            <a:off x="6537960" y="2468880"/>
            <a:ext cx="4663440" cy="548640"/>
          </a:xfrm>
          <a:prstGeom prst="rect">
            <a:avLst/>
          </a:prstGeom>
          <a:noFill/>
          <a:ln/>
        </p:spPr>
        <p:txBody>
          <a:bodyPr wrap="square" lIns="0" tIns="0" rIns="0" bIns="0" rtlCol="0" anchor="ctr"/>
          <a:lstStyle/>
          <a:p>
            <a:pPr indent="0" marL="0">
              <a:buNone/>
            </a:pPr>
            <a:r>
              <a:rPr lang="en-US" sz="2400" b="1" dirty="0">
                <a:solidFill>
                  <a:srgbClr val="1B1B1B"/>
                </a:solidFill>
                <a:latin typeface="Cambria" pitchFamily="34" charset="0"/>
                <a:ea typeface="Cambria" pitchFamily="34" charset="-122"/>
                <a:cs typeface="Cambria" pitchFamily="34" charset="-120"/>
              </a:rPr>
              <a:t>Was anything left out?</a:t>
            </a:r>
            <a:endParaRPr lang="en-US" sz="2400" dirty="0"/>
          </a:p>
        </p:txBody>
      </p:sp>
      <p:sp>
        <p:nvSpPr>
          <p:cNvPr id="13" name="Text 11"/>
          <p:cNvSpPr txBox="1"/>
          <p:nvPr/>
        </p:nvSpPr>
        <p:spPr>
          <a:xfrm>
            <a:off x="6537960" y="3154680"/>
            <a:ext cx="4663440" cy="2011680"/>
          </a:xfrm>
          <a:prstGeom prst="rect">
            <a:avLst/>
          </a:prstGeom>
          <a:noFill/>
          <a:ln/>
        </p:spPr>
        <p:txBody>
          <a:bodyPr wrap="square" lIns="0" tIns="0" rIns="0" bIns="0" rtlCol="0" anchor="t"/>
          <a:lstStyle/>
          <a:p>
            <a:pPr indent="0" marL="0">
              <a:buNone/>
            </a:pPr>
            <a:r>
              <a:rPr lang="en-US" sz="1400" dirty="0">
                <a:solidFill>
                  <a:srgbClr val="4A4A48"/>
                </a:solidFill>
                <a:latin typeface="Calibri" pitchFamily="34" charset="0"/>
                <a:ea typeface="Calibri" pitchFamily="34" charset="-122"/>
                <a:cs typeface="Calibri" pitchFamily="34" charset="-120"/>
              </a:rPr>
              <a:t>Ledger slots are reserved on MST before decisions exist. Every action carries a signed receipt. If the operator hides a receipted decision, anyone can challenge it, and an unanswered challenge slashes the operator's bond.</a:t>
            </a:r>
            <a:endParaRPr lang="en-US" sz="1400" dirty="0"/>
          </a:p>
        </p:txBody>
      </p:sp>
      <p:sp>
        <p:nvSpPr>
          <p:cNvPr id="14" name="Text 12"/>
          <p:cNvSpPr txBox="1"/>
          <p:nvPr/>
        </p:nvSpPr>
        <p:spPr>
          <a:xfrm>
            <a:off x="640080" y="5623560"/>
            <a:ext cx="10881360" cy="457200"/>
          </a:xfrm>
          <a:prstGeom prst="rect">
            <a:avLst/>
          </a:prstGeom>
          <a:noFill/>
          <a:ln/>
        </p:spPr>
        <p:txBody>
          <a:bodyPr wrap="square" lIns="0" tIns="0" rIns="0" bIns="0" rtlCol="0" anchor="ctr"/>
          <a:lstStyle/>
          <a:p>
            <a:pPr indent="0" marL="0">
              <a:buNone/>
            </a:pPr>
            <a:r>
              <a:rPr lang="en-US" sz="1700" i="1" dirty="0">
                <a:solidFill>
                  <a:srgbClr val="1B1B1B"/>
                </a:solidFill>
                <a:latin typeface="Cambria" pitchFamily="34" charset="0"/>
                <a:ea typeface="Cambria" pitchFamily="34" charset="-122"/>
                <a:cs typeface="Cambria" pitchFamily="34" charset="-120"/>
              </a:rPr>
              <a:t>Together: you can't be paid for work that didn't happen, and you can't bury work that should have.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03 · HOW IT WORKS</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From a full bin to a paid worker, with no step that runs on trust.</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04</a:t>
            </a:r>
            <a:endParaRPr lang="en-US" sz="800" dirty="0"/>
          </a:p>
        </p:txBody>
      </p:sp>
      <p:sp>
        <p:nvSpPr>
          <p:cNvPr id="6" name="Shape 4"/>
          <p:cNvSpPr/>
          <p:nvPr/>
        </p:nvSpPr>
        <p:spPr>
          <a:xfrm>
            <a:off x="1143000" y="2331720"/>
            <a:ext cx="1737360" cy="0"/>
          </a:xfrm>
          <a:prstGeom prst="line">
            <a:avLst/>
          </a:prstGeom>
          <a:noFill/>
          <a:ln w="19050">
            <a:solidFill>
              <a:srgbClr val="D9D7CF"/>
            </a:solidFill>
            <a:prstDash val="solid"/>
          </a:ln>
        </p:spPr>
      </p:sp>
      <p:sp>
        <p:nvSpPr>
          <p:cNvPr id="7" name="Shape 5"/>
          <p:cNvSpPr/>
          <p:nvPr/>
        </p:nvSpPr>
        <p:spPr>
          <a:xfrm>
            <a:off x="640080" y="2011680"/>
            <a:ext cx="640080" cy="640080"/>
          </a:xfrm>
          <a:prstGeom prst="ellipse">
            <a:avLst/>
          </a:prstGeom>
          <a:solidFill>
            <a:srgbClr val="1B1B1B"/>
          </a:solidFill>
          <a:ln w="38100">
            <a:solidFill>
              <a:srgbClr val="F7F6F1"/>
            </a:solidFill>
            <a:prstDash val="solid"/>
          </a:ln>
        </p:spPr>
      </p:sp>
      <p:sp>
        <p:nvSpPr>
          <p:cNvPr id="8" name="Text 6"/>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640080" y="2834640"/>
            <a:ext cx="164592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Bin detects</a:t>
            </a:r>
            <a:endParaRPr lang="en-US" sz="1500" dirty="0"/>
          </a:p>
        </p:txBody>
      </p:sp>
      <p:sp>
        <p:nvSpPr>
          <p:cNvPr id="10" name="Text 8"/>
          <p:cNvSpPr txBox="1"/>
          <p:nvPr/>
        </p:nvSpPr>
        <p:spPr>
          <a:xfrm>
            <a:off x="640080" y="3200400"/>
            <a:ext cx="1600200" cy="1188720"/>
          </a:xfrm>
          <a:prstGeom prst="rect">
            <a:avLst/>
          </a:prstGeom>
          <a:noFill/>
          <a:ln/>
        </p:spPr>
        <p:txBody>
          <a:bodyPr wrap="square" lIns="0" tIns="0" rIns="0" bIns="0" rtlCol="0" anchor="t"/>
          <a:lstStyle/>
          <a:p>
            <a:pPr indent="0" marL="0">
              <a:buNone/>
            </a:pPr>
            <a:r>
              <a:rPr lang="en-US" sz="1150" dirty="0">
                <a:solidFill>
                  <a:srgbClr val="4A4A48"/>
                </a:solidFill>
                <a:latin typeface="Calibri" pitchFamily="34" charset="0"/>
                <a:ea typeface="Calibri" pitchFamily="34" charset="-122"/>
                <a:cs typeface="Calibri" pitchFamily="34" charset="-120"/>
              </a:rPr>
              <a:t>Ultrasonic × 2, IR, lid sensor stream to the gateway (HMAC-signed)</a:t>
            </a:r>
            <a:endParaRPr lang="en-US" sz="1150" dirty="0"/>
          </a:p>
        </p:txBody>
      </p:sp>
      <p:sp>
        <p:nvSpPr>
          <p:cNvPr id="11" name="Shape 9"/>
          <p:cNvSpPr/>
          <p:nvPr/>
        </p:nvSpPr>
        <p:spPr>
          <a:xfrm>
            <a:off x="2971800" y="2331720"/>
            <a:ext cx="1737360" cy="0"/>
          </a:xfrm>
          <a:prstGeom prst="line">
            <a:avLst/>
          </a:prstGeom>
          <a:noFill/>
          <a:ln w="19050">
            <a:solidFill>
              <a:srgbClr val="D9D7CF"/>
            </a:solidFill>
            <a:prstDash val="solid"/>
          </a:ln>
        </p:spPr>
      </p:sp>
      <p:sp>
        <p:nvSpPr>
          <p:cNvPr id="12" name="Shape 10"/>
          <p:cNvSpPr/>
          <p:nvPr/>
        </p:nvSpPr>
        <p:spPr>
          <a:xfrm>
            <a:off x="2468880" y="2011680"/>
            <a:ext cx="640080" cy="640080"/>
          </a:xfrm>
          <a:prstGeom prst="ellipse">
            <a:avLst/>
          </a:prstGeom>
          <a:solidFill>
            <a:srgbClr val="1B1B1B"/>
          </a:solidFill>
          <a:ln w="38100">
            <a:solidFill>
              <a:srgbClr val="F7F6F1"/>
            </a:solidFill>
            <a:prstDash val="solid"/>
          </a:ln>
        </p:spPr>
      </p:sp>
      <p:sp>
        <p:nvSpPr>
          <p:cNvPr id="13" name="Text 11"/>
          <p:cNvSpPr txBox="1"/>
          <p:nvPr/>
        </p:nvSpPr>
        <p:spPr>
          <a:xfrm>
            <a:off x="2468880" y="2011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2468880" y="2834640"/>
            <a:ext cx="164592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AI verifies</a:t>
            </a:r>
            <a:endParaRPr lang="en-US" sz="1500" dirty="0"/>
          </a:p>
        </p:txBody>
      </p:sp>
      <p:sp>
        <p:nvSpPr>
          <p:cNvPr id="15" name="Text 13"/>
          <p:cNvSpPr txBox="1"/>
          <p:nvPr/>
        </p:nvSpPr>
        <p:spPr>
          <a:xfrm>
            <a:off x="2468880" y="3200400"/>
            <a:ext cx="1600200" cy="1188720"/>
          </a:xfrm>
          <a:prstGeom prst="rect">
            <a:avLst/>
          </a:prstGeom>
          <a:noFill/>
          <a:ln/>
        </p:spPr>
        <p:txBody>
          <a:bodyPr wrap="square" lIns="0" tIns="0" rIns="0" bIns="0" rtlCol="0" anchor="t"/>
          <a:lstStyle/>
          <a:p>
            <a:pPr indent="0" marL="0">
              <a:buNone/>
            </a:pPr>
            <a:r>
              <a:rPr lang="en-US" sz="1150" dirty="0">
                <a:solidFill>
                  <a:srgbClr val="4A4A48"/>
                </a:solidFill>
                <a:latin typeface="Calibri" pitchFamily="34" charset="0"/>
                <a:ea typeface="Calibri" pitchFamily="34" charset="-122"/>
                <a:cs typeface="Calibri" pitchFamily="34" charset="-120"/>
              </a:rPr>
              <a:t>Sensor fusion rejects blocked or noisy sensors; signs its verdict</a:t>
            </a:r>
            <a:endParaRPr lang="en-US" sz="1150" dirty="0"/>
          </a:p>
        </p:txBody>
      </p:sp>
      <p:sp>
        <p:nvSpPr>
          <p:cNvPr id="16" name="Shape 14"/>
          <p:cNvSpPr/>
          <p:nvPr/>
        </p:nvSpPr>
        <p:spPr>
          <a:xfrm>
            <a:off x="4800600" y="2331720"/>
            <a:ext cx="1737360" cy="0"/>
          </a:xfrm>
          <a:prstGeom prst="line">
            <a:avLst/>
          </a:prstGeom>
          <a:noFill/>
          <a:ln w="19050">
            <a:solidFill>
              <a:srgbClr val="D9D7CF"/>
            </a:solidFill>
            <a:prstDash val="solid"/>
          </a:ln>
        </p:spPr>
      </p:sp>
      <p:sp>
        <p:nvSpPr>
          <p:cNvPr id="17" name="Shape 15"/>
          <p:cNvSpPr/>
          <p:nvPr/>
        </p:nvSpPr>
        <p:spPr>
          <a:xfrm>
            <a:off x="4297680" y="2011680"/>
            <a:ext cx="640080" cy="640080"/>
          </a:xfrm>
          <a:prstGeom prst="ellipse">
            <a:avLst/>
          </a:prstGeom>
          <a:solidFill>
            <a:srgbClr val="3D6E78"/>
          </a:solidFill>
          <a:ln w="38100">
            <a:solidFill>
              <a:srgbClr val="F7F6F1"/>
            </a:solidFill>
            <a:prstDash val="solid"/>
          </a:ln>
        </p:spPr>
      </p:sp>
      <p:sp>
        <p:nvSpPr>
          <p:cNvPr id="18" name="Text 16"/>
          <p:cNvSpPr txBox="1"/>
          <p:nvPr/>
        </p:nvSpPr>
        <p:spPr>
          <a:xfrm>
            <a:off x="4297680" y="2011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4297680" y="2834640"/>
            <a:ext cx="164592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Slot on MST</a:t>
            </a:r>
            <a:endParaRPr lang="en-US" sz="1500" dirty="0"/>
          </a:p>
        </p:txBody>
      </p:sp>
      <p:sp>
        <p:nvSpPr>
          <p:cNvPr id="20" name="Text 18"/>
          <p:cNvSpPr txBox="1"/>
          <p:nvPr/>
        </p:nvSpPr>
        <p:spPr>
          <a:xfrm>
            <a:off x="4297680" y="3200400"/>
            <a:ext cx="1600200" cy="1188720"/>
          </a:xfrm>
          <a:prstGeom prst="rect">
            <a:avLst/>
          </a:prstGeom>
          <a:noFill/>
          <a:ln/>
        </p:spPr>
        <p:txBody>
          <a:bodyPr wrap="square" lIns="0" tIns="0" rIns="0" bIns="0" rtlCol="0" anchor="t"/>
          <a:lstStyle/>
          <a:p>
            <a:pPr indent="0" marL="0">
              <a:buNone/>
            </a:pPr>
            <a:r>
              <a:rPr lang="en-US" sz="1150" dirty="0">
                <a:solidFill>
                  <a:srgbClr val="4A4A48"/>
                </a:solidFill>
                <a:latin typeface="Calibri" pitchFamily="34" charset="0"/>
                <a:ea typeface="Calibri" pitchFamily="34" charset="-122"/>
                <a:cs typeface="Calibri" pitchFamily="34" charset="-120"/>
              </a:rPr>
              <a:t>Request recorded in a pre-reserved ledger slot; can't be dropped silently</a:t>
            </a:r>
            <a:endParaRPr lang="en-US" sz="1150" dirty="0"/>
          </a:p>
        </p:txBody>
      </p:sp>
      <p:sp>
        <p:nvSpPr>
          <p:cNvPr id="21" name="Shape 19"/>
          <p:cNvSpPr/>
          <p:nvPr/>
        </p:nvSpPr>
        <p:spPr>
          <a:xfrm>
            <a:off x="6629400" y="2331720"/>
            <a:ext cx="1737360" cy="0"/>
          </a:xfrm>
          <a:prstGeom prst="line">
            <a:avLst/>
          </a:prstGeom>
          <a:noFill/>
          <a:ln w="19050">
            <a:solidFill>
              <a:srgbClr val="D9D7CF"/>
            </a:solidFill>
            <a:prstDash val="solid"/>
          </a:ln>
        </p:spPr>
      </p:sp>
      <p:sp>
        <p:nvSpPr>
          <p:cNvPr id="22" name="Shape 20"/>
          <p:cNvSpPr/>
          <p:nvPr/>
        </p:nvSpPr>
        <p:spPr>
          <a:xfrm>
            <a:off x="6126480" y="2011680"/>
            <a:ext cx="640080" cy="640080"/>
          </a:xfrm>
          <a:prstGeom prst="ellipse">
            <a:avLst/>
          </a:prstGeom>
          <a:solidFill>
            <a:srgbClr val="1B1B1B"/>
          </a:solidFill>
          <a:ln w="38100">
            <a:solidFill>
              <a:srgbClr val="F7F6F1"/>
            </a:solidFill>
            <a:prstDash val="solid"/>
          </a:ln>
        </p:spPr>
      </p:sp>
      <p:sp>
        <p:nvSpPr>
          <p:cNvPr id="23" name="Text 21"/>
          <p:cNvSpPr txBox="1"/>
          <p:nvPr/>
        </p:nvSpPr>
        <p:spPr>
          <a:xfrm>
            <a:off x="6126480" y="2011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6126480" y="2834640"/>
            <a:ext cx="164592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City approves</a:t>
            </a:r>
            <a:endParaRPr lang="en-US" sz="1500" dirty="0"/>
          </a:p>
        </p:txBody>
      </p:sp>
      <p:sp>
        <p:nvSpPr>
          <p:cNvPr id="25" name="Text 23"/>
          <p:cNvSpPr txBox="1"/>
          <p:nvPr/>
        </p:nvSpPr>
        <p:spPr>
          <a:xfrm>
            <a:off x="6126480" y="3200400"/>
            <a:ext cx="1600200" cy="1188720"/>
          </a:xfrm>
          <a:prstGeom prst="rect">
            <a:avLst/>
          </a:prstGeom>
          <a:noFill/>
          <a:ln/>
        </p:spPr>
        <p:txBody>
          <a:bodyPr wrap="square" lIns="0" tIns="0" rIns="0" bIns="0" rtlCol="0" anchor="t"/>
          <a:lstStyle/>
          <a:p>
            <a:pPr indent="0" marL="0">
              <a:buNone/>
            </a:pPr>
            <a:r>
              <a:rPr lang="en-US" sz="1150" dirty="0">
                <a:solidFill>
                  <a:srgbClr val="4A4A48"/>
                </a:solidFill>
                <a:latin typeface="Calibri" pitchFamily="34" charset="0"/>
                <a:ea typeface="Calibri" pitchFamily="34" charset="-122"/>
                <a:cs typeface="Calibri" pitchFamily="34" charset="-120"/>
              </a:rPr>
              <a:t>Nearest worker assigned; payment escrowed in the contract</a:t>
            </a:r>
            <a:endParaRPr lang="en-US" sz="1150" dirty="0"/>
          </a:p>
        </p:txBody>
      </p:sp>
      <p:sp>
        <p:nvSpPr>
          <p:cNvPr id="26" name="Shape 24"/>
          <p:cNvSpPr/>
          <p:nvPr/>
        </p:nvSpPr>
        <p:spPr>
          <a:xfrm>
            <a:off x="8458200" y="2331720"/>
            <a:ext cx="1737360" cy="0"/>
          </a:xfrm>
          <a:prstGeom prst="line">
            <a:avLst/>
          </a:prstGeom>
          <a:noFill/>
          <a:ln w="19050">
            <a:solidFill>
              <a:srgbClr val="D9D7CF"/>
            </a:solidFill>
            <a:prstDash val="solid"/>
          </a:ln>
        </p:spPr>
      </p:sp>
      <p:sp>
        <p:nvSpPr>
          <p:cNvPr id="27" name="Shape 25"/>
          <p:cNvSpPr/>
          <p:nvPr/>
        </p:nvSpPr>
        <p:spPr>
          <a:xfrm>
            <a:off x="7955280" y="2011680"/>
            <a:ext cx="640080" cy="640080"/>
          </a:xfrm>
          <a:prstGeom prst="ellipse">
            <a:avLst/>
          </a:prstGeom>
          <a:solidFill>
            <a:srgbClr val="B5532E"/>
          </a:solidFill>
          <a:ln w="38100">
            <a:solidFill>
              <a:srgbClr val="F7F6F1"/>
            </a:solidFill>
            <a:prstDash val="solid"/>
          </a:ln>
        </p:spPr>
      </p:sp>
      <p:sp>
        <p:nvSpPr>
          <p:cNvPr id="28" name="Text 26"/>
          <p:cNvSpPr txBox="1"/>
          <p:nvPr/>
        </p:nvSpPr>
        <p:spPr>
          <a:xfrm>
            <a:off x="7955280" y="2011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7"/>
          <p:cNvSpPr txBox="1"/>
          <p:nvPr/>
        </p:nvSpPr>
        <p:spPr>
          <a:xfrm>
            <a:off x="7955280" y="2834640"/>
            <a:ext cx="164592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Gate opens</a:t>
            </a:r>
            <a:endParaRPr lang="en-US" sz="1500" dirty="0"/>
          </a:p>
        </p:txBody>
      </p:sp>
      <p:sp>
        <p:nvSpPr>
          <p:cNvPr id="30" name="Text 28"/>
          <p:cNvSpPr txBox="1"/>
          <p:nvPr/>
        </p:nvSpPr>
        <p:spPr>
          <a:xfrm>
            <a:off x="7955280" y="3200400"/>
            <a:ext cx="1600200" cy="1188720"/>
          </a:xfrm>
          <a:prstGeom prst="rect">
            <a:avLst/>
          </a:prstGeom>
          <a:noFill/>
          <a:ln/>
        </p:spPr>
        <p:txBody>
          <a:bodyPr wrap="square" lIns="0" tIns="0" rIns="0" bIns="0" rtlCol="0" anchor="t"/>
          <a:lstStyle/>
          <a:p>
            <a:pPr indent="0" marL="0">
              <a:buNone/>
            </a:pPr>
            <a:r>
              <a:rPr lang="en-US" sz="1150" dirty="0">
                <a:solidFill>
                  <a:srgbClr val="4A4A48"/>
                </a:solidFill>
                <a:latin typeface="Calibri" pitchFamily="34" charset="0"/>
                <a:ea typeface="Calibri" pitchFamily="34" charset="-122"/>
                <a:cs typeface="Calibri" pitchFamily="34" charset="-120"/>
              </a:rPr>
              <a:t>Lid unlocks only for the assigned worker's card: no receipt, no effect</a:t>
            </a:r>
            <a:endParaRPr lang="en-US" sz="1150" dirty="0"/>
          </a:p>
        </p:txBody>
      </p:sp>
      <p:sp>
        <p:nvSpPr>
          <p:cNvPr id="31" name="Shape 29"/>
          <p:cNvSpPr/>
          <p:nvPr/>
        </p:nvSpPr>
        <p:spPr>
          <a:xfrm>
            <a:off x="9784080" y="2011680"/>
            <a:ext cx="640080" cy="640080"/>
          </a:xfrm>
          <a:prstGeom prst="ellipse">
            <a:avLst/>
          </a:prstGeom>
          <a:solidFill>
            <a:srgbClr val="1B1B1B"/>
          </a:solidFill>
          <a:ln w="38100">
            <a:solidFill>
              <a:srgbClr val="F7F6F1"/>
            </a:solidFill>
            <a:prstDash val="solid"/>
          </a:ln>
        </p:spPr>
      </p:sp>
      <p:sp>
        <p:nvSpPr>
          <p:cNvPr id="32" name="Text 30"/>
          <p:cNvSpPr txBox="1"/>
          <p:nvPr/>
        </p:nvSpPr>
        <p:spPr>
          <a:xfrm>
            <a:off x="9784080" y="2011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1"/>
          <p:cNvSpPr txBox="1"/>
          <p:nvPr/>
        </p:nvSpPr>
        <p:spPr>
          <a:xfrm>
            <a:off x="9784080" y="2834640"/>
            <a:ext cx="1645920" cy="365760"/>
          </a:xfrm>
          <a:prstGeom prst="rect">
            <a:avLst/>
          </a:prstGeom>
          <a:noFill/>
          <a:ln/>
        </p:spPr>
        <p:txBody>
          <a:bodyPr wrap="square" lIns="0" tIns="0" rIns="0" bIns="0"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Proof &amp; pay</a:t>
            </a:r>
            <a:endParaRPr lang="en-US" sz="1500" dirty="0"/>
          </a:p>
        </p:txBody>
      </p:sp>
      <p:sp>
        <p:nvSpPr>
          <p:cNvPr id="34" name="Text 32"/>
          <p:cNvSpPr txBox="1"/>
          <p:nvPr/>
        </p:nvSpPr>
        <p:spPr>
          <a:xfrm>
            <a:off x="9784080" y="3200400"/>
            <a:ext cx="1600200" cy="1188720"/>
          </a:xfrm>
          <a:prstGeom prst="rect">
            <a:avLst/>
          </a:prstGeom>
          <a:noFill/>
          <a:ln/>
        </p:spPr>
        <p:txBody>
          <a:bodyPr wrap="square" lIns="0" tIns="0" rIns="0" bIns="0" rtlCol="0" anchor="t"/>
          <a:lstStyle/>
          <a:p>
            <a:pPr indent="0" marL="0">
              <a:buNone/>
            </a:pPr>
            <a:r>
              <a:rPr lang="en-US" sz="1150" dirty="0">
                <a:solidFill>
                  <a:srgbClr val="4A4A48"/>
                </a:solidFill>
                <a:latin typeface="Calibri" pitchFamily="34" charset="0"/>
                <a:ea typeface="Calibri" pitchFamily="34" charset="-122"/>
                <a:cs typeface="Calibri" pitchFamily="34" charset="-120"/>
              </a:rPr>
              <a:t>Level drop re-verified; approval releases MSTC to the worker's wallet</a:t>
            </a:r>
            <a:endParaRPr lang="en-US" sz="1150" dirty="0"/>
          </a:p>
        </p:txBody>
      </p:sp>
      <p:sp>
        <p:nvSpPr>
          <p:cNvPr id="35" name="Shape 33"/>
          <p:cNvSpPr/>
          <p:nvPr/>
        </p:nvSpPr>
        <p:spPr>
          <a:xfrm>
            <a:off x="640080" y="4754880"/>
            <a:ext cx="10881360" cy="1280160"/>
          </a:xfrm>
          <a:prstGeom prst="rect">
            <a:avLst/>
          </a:prstGeom>
          <a:solidFill>
            <a:srgbClr val="FFFFFF"/>
          </a:solidFill>
          <a:ln w="9525">
            <a:solidFill>
              <a:srgbClr val="D9D7CF"/>
            </a:solidFill>
            <a:prstDash val="solid"/>
          </a:ln>
        </p:spPr>
      </p:sp>
      <p:sp>
        <p:nvSpPr>
          <p:cNvPr id="36" name="Text 34"/>
          <p:cNvSpPr txBox="1"/>
          <p:nvPr/>
        </p:nvSpPr>
        <p:spPr>
          <a:xfrm>
            <a:off x="914400" y="4892040"/>
            <a:ext cx="10332720" cy="1005840"/>
          </a:xfrm>
          <a:prstGeom prst="rect">
            <a:avLst/>
          </a:prstGeom>
          <a:noFill/>
          <a:ln/>
        </p:spPr>
        <p:txBody>
          <a:bodyPr wrap="square" lIns="0" tIns="0" rIns="0" bIns="0" rtlCol="0" anchor="ctr"/>
          <a:lstStyle/>
          <a:p>
            <a:pPr indent="0" marL="0">
              <a:buNone/>
            </a:pPr>
            <a:r>
              <a:rPr lang="en-US" sz="1300" b="1" dirty="0">
                <a:solidFill>
                  <a:srgbClr val="1B1B1B"/>
                </a:solidFill>
                <a:latin typeface="Calibri" pitchFamily="34" charset="0"/>
                <a:ea typeface="Calibri" pitchFamily="34" charset="-122"/>
                <a:cs typeface="Calibri" pitchFamily="34" charset="-120"/>
              </a:rPr>
              <a:t>What's on-chain: </a:t>
            </a:r>
            <a:pPr indent="0" marL="0">
              <a:buNone/>
            </a:pPr>
            <a:r>
              <a:rPr lang="en-US" sz="1300" dirty="0">
                <a:solidFill>
                  <a:srgbClr val="4A4A48"/>
                </a:solidFill>
                <a:latin typeface="Calibri" pitchFamily="34" charset="0"/>
                <a:ea typeface="Calibri" pitchFamily="34" charset="-122"/>
                <a:cs typeface="Calibri" pitchFamily="34" charset="-120"/>
              </a:rPr>
              <a:t>request, approval, assignment + escrow, RFID proof, completion evidence, approval, payment. Each carries EIP-712 signatures from the bin device and the AI verifier, which the contract checks. </a:t>
            </a:r>
            <a:pPr indent="0" marL="0">
              <a:buNone/>
            </a:pPr>
            <a:r>
              <a:rPr lang="en-US" sz="1300" b="1" dirty="0">
                <a:solidFill>
                  <a:srgbClr val="1B1B1B"/>
                </a:solidFill>
                <a:latin typeface="Calibri" pitchFamily="34" charset="0"/>
                <a:ea typeface="Calibri" pitchFamily="34" charset="-122"/>
                <a:cs typeface="Calibri" pitchFamily="34" charset="-120"/>
              </a:rPr>
              <a:t>What's not: </a:t>
            </a:r>
            <a:pPr indent="0" marL="0">
              <a:buNone/>
            </a:pPr>
            <a:r>
              <a:rPr lang="en-US" sz="1300" dirty="0">
                <a:solidFill>
                  <a:srgbClr val="4A4A48"/>
                </a:solidFill>
                <a:latin typeface="Calibri" pitchFamily="34" charset="0"/>
                <a:ea typeface="Calibri" pitchFamily="34" charset="-122"/>
                <a:cs typeface="Calibri" pitchFamily="34" charset="-120"/>
              </a:rPr>
              <a:t>raw sensor readings. Only their hashes go on-chain.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04 · THE PRODUCT</a:t>
            </a:r>
            <a:endParaRPr lang="en-US" sz="1000" dirty="0"/>
          </a:p>
        </p:txBody>
      </p:sp>
      <p:sp>
        <p:nvSpPr>
          <p:cNvPr id="3" name="Text 1"/>
          <p:cNvSpPr txBox="1"/>
          <p:nvPr/>
        </p:nvSpPr>
        <p:spPr>
          <a:xfrm>
            <a:off x="640080" y="731520"/>
            <a:ext cx="4572000" cy="1645920"/>
          </a:xfrm>
          <a:prstGeom prst="rect">
            <a:avLst/>
          </a:prstGeom>
          <a:noFill/>
          <a:ln/>
        </p:spPr>
        <p:txBody>
          <a:bodyPr wrap="square" lIns="0" tIns="0" rIns="0" bIns="0" rtlCol="0" anchor="t"/>
          <a:lstStyle/>
          <a:p>
            <a:pPr indent="0" marL="0">
              <a:buNone/>
            </a:pPr>
            <a:r>
              <a:rPr lang="en-US" sz="2600" b="1" dirty="0">
                <a:solidFill>
                  <a:srgbClr val="1B1B1B"/>
                </a:solidFill>
                <a:latin typeface="Cambria" pitchFamily="34" charset="0"/>
                <a:ea typeface="Cambria" pitchFamily="34" charset="-122"/>
                <a:cs typeface="Cambria" pitchFamily="34" charset="-120"/>
              </a:rPr>
              <a:t>A live operations room for the city, with the proof behind every decision.</a:t>
            </a:r>
            <a:endParaRPr lang="en-US" sz="26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05</a:t>
            </a:r>
            <a:endParaRPr lang="en-US" sz="800" dirty="0"/>
          </a:p>
        </p:txBody>
      </p:sp>
      <p:sp>
        <p:nvSpPr>
          <p:cNvPr id="6" name="Shape 4"/>
          <p:cNvSpPr/>
          <p:nvPr/>
        </p:nvSpPr>
        <p:spPr>
          <a:xfrm>
            <a:off x="5358384" y="649224"/>
            <a:ext cx="6245352" cy="3931920"/>
          </a:xfrm>
          <a:prstGeom prst="rect">
            <a:avLst/>
          </a:prstGeom>
          <a:solidFill>
            <a:srgbClr val="FFFFFF"/>
          </a:solidFill>
          <a:ln w="9525">
            <a:solidFill>
              <a:srgbClr val="D9D7CF"/>
            </a:solidFill>
            <a:prstDash val="solid"/>
          </a:ln>
          <a:effectLst>
            <a:outerShdw sx="100000" sy="100000" kx="0" ky="0" algn="bl" rotWithShape="0" blurRad="101600" dist="25400" dir="5400000">
              <a:srgbClr val="000000">
                <a:alpha val="12000"/>
              </a:srgbClr>
            </a:outerShdw>
          </a:effectLst>
        </p:spPr>
      </p:sp>
      <p:pic>
        <p:nvPicPr>
          <p:cNvPr id="7" name="Image 0" descr="/tmp/claude-0/-home-user-MST/d566ed43-7d55-55fc-a30e-2058971a7ea4/scratchpad/shots/02-overview.png">    </p:cNvPr>
          <p:cNvPicPr>
            <a:picLocks noChangeAspect="1"/>
          </p:cNvPicPr>
          <p:nvPr/>
        </p:nvPicPr>
        <p:blipFill>
          <a:blip r:embed="rId1"/>
          <a:srcRect l="0" r="0" t="0" b="0"/>
          <a:stretch/>
        </p:blipFill>
        <p:spPr>
          <a:xfrm>
            <a:off x="5394960" y="685800"/>
            <a:ext cx="6172200" cy="3858768"/>
          </a:xfrm>
          <a:prstGeom prst="rect">
            <a:avLst/>
          </a:prstGeom>
        </p:spPr>
      </p:pic>
      <p:sp>
        <p:nvSpPr>
          <p:cNvPr id="8" name="Shape 5"/>
          <p:cNvSpPr/>
          <p:nvPr/>
        </p:nvSpPr>
        <p:spPr>
          <a:xfrm>
            <a:off x="640080" y="2651760"/>
            <a:ext cx="4297680" cy="0"/>
          </a:xfrm>
          <a:prstGeom prst="line">
            <a:avLst/>
          </a:prstGeom>
          <a:noFill/>
          <a:ln w="22225">
            <a:solidFill>
              <a:srgbClr val="1B1B1B"/>
            </a:solidFill>
            <a:prstDash val="solid"/>
          </a:ln>
        </p:spPr>
      </p:sp>
      <p:sp>
        <p:nvSpPr>
          <p:cNvPr id="9" name="Text 6"/>
          <p:cNvSpPr txBox="1"/>
          <p:nvPr/>
        </p:nvSpPr>
        <p:spPr>
          <a:xfrm>
            <a:off x="640080" y="2761488"/>
            <a:ext cx="4297680" cy="36576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Everything live</a:t>
            </a:r>
            <a:endParaRPr lang="en-US" sz="1600" dirty="0"/>
          </a:p>
        </p:txBody>
      </p:sp>
      <p:sp>
        <p:nvSpPr>
          <p:cNvPr id="10" name="Text 7"/>
          <p:cNvSpPr txBox="1"/>
          <p:nvPr/>
        </p:nvSpPr>
        <p:spPr>
          <a:xfrm>
            <a:off x="640080" y="3127248"/>
            <a:ext cx="4297680" cy="82296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Bins, requests, workers and payments stream in real time. The 14-step lifecycle marks which stages are on-chain.</a:t>
            </a:r>
            <a:endParaRPr lang="en-US" sz="1200" dirty="0"/>
          </a:p>
        </p:txBody>
      </p:sp>
      <p:sp>
        <p:nvSpPr>
          <p:cNvPr id="11" name="Shape 8"/>
          <p:cNvSpPr/>
          <p:nvPr/>
        </p:nvSpPr>
        <p:spPr>
          <a:xfrm>
            <a:off x="640080" y="3931920"/>
            <a:ext cx="4297680" cy="0"/>
          </a:xfrm>
          <a:prstGeom prst="line">
            <a:avLst/>
          </a:prstGeom>
          <a:noFill/>
          <a:ln w="22225">
            <a:solidFill>
              <a:srgbClr val="1B1B1B"/>
            </a:solidFill>
            <a:prstDash val="solid"/>
          </a:ln>
        </p:spPr>
      </p:sp>
      <p:sp>
        <p:nvSpPr>
          <p:cNvPr id="12" name="Text 9"/>
          <p:cNvSpPr txBox="1"/>
          <p:nvPr/>
        </p:nvSpPr>
        <p:spPr>
          <a:xfrm>
            <a:off x="640080" y="4041648"/>
            <a:ext cx="4297680" cy="36576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Decide in one click</a:t>
            </a:r>
            <a:endParaRPr lang="en-US" sz="1600" dirty="0"/>
          </a:p>
        </p:txBody>
      </p:sp>
      <p:sp>
        <p:nvSpPr>
          <p:cNvPr id="13" name="Text 10"/>
          <p:cNvSpPr txBox="1"/>
          <p:nvPr/>
        </p:nvSpPr>
        <p:spPr>
          <a:xfrm>
            <a:off x="640080" y="4407408"/>
            <a:ext cx="4297680" cy="82296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Approve, assign, investigate or release payment. Each click is a signed MST transaction, from the municipal wallet or your own BridgeKey.</a:t>
            </a:r>
            <a:endParaRPr lang="en-US" sz="1200" dirty="0"/>
          </a:p>
        </p:txBody>
      </p:sp>
      <p:sp>
        <p:nvSpPr>
          <p:cNvPr id="14" name="Text 11"/>
          <p:cNvSpPr txBox="1"/>
          <p:nvPr/>
        </p:nvSpPr>
        <p:spPr>
          <a:xfrm>
            <a:off x="5394960" y="4709160"/>
            <a:ext cx="6172200" cy="228600"/>
          </a:xfrm>
          <a:prstGeom prst="rect">
            <a:avLst/>
          </a:prstGeom>
          <a:noFill/>
          <a:ln/>
        </p:spPr>
        <p:txBody>
          <a:bodyPr wrap="square" lIns="0" tIns="0" rIns="0" bIns="0" rtlCol="0" anchor="ctr"/>
          <a:lstStyle/>
          <a:p>
            <a:pPr indent="0" marL="0">
              <a:buNone/>
            </a:pPr>
            <a:r>
              <a:rPr lang="en-US" sz="850" spc="150" kern="0" dirty="0">
                <a:solidFill>
                  <a:srgbClr val="8A8883"/>
                </a:solidFill>
                <a:latin typeface="Courier New" pitchFamily="34" charset="0"/>
                <a:ea typeface="Courier New" pitchFamily="34" charset="-122"/>
                <a:cs typeface="Courier New" pitchFamily="34" charset="-120"/>
              </a:rPr>
              <a:t>MUNICIPAL DASHBOARD · OPERATIONS OVERVIEW</a:t>
            </a:r>
            <a:endParaRPr lang="en-US" sz="850" dirty="0"/>
          </a:p>
        </p:txBody>
      </p:sp>
      <p:sp>
        <p:nvSpPr>
          <p:cNvPr id="15" name="Text 12"/>
          <p:cNvSpPr txBox="1"/>
          <p:nvPr/>
        </p:nvSpPr>
        <p:spPr>
          <a:xfrm>
            <a:off x="5394960" y="5029200"/>
            <a:ext cx="6172200" cy="54864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Built: contract · Node server · React dashboard · worker app · simulation + live-hardware modes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05 · VERIFICATION</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2800" b="1" dirty="0">
                <a:solidFill>
                  <a:srgbClr val="1B1B1B"/>
                </a:solidFill>
                <a:latin typeface="Cambria" pitchFamily="34" charset="0"/>
                <a:ea typeface="Cambria" pitchFamily="34" charset="-122"/>
                <a:cs typeface="Cambria" pitchFamily="34" charset="-120"/>
              </a:rPr>
              <a:t>The bin proves it was emptied. Nobody types "done".</a:t>
            </a:r>
            <a:endParaRPr lang="en-US" sz="28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06</a:t>
            </a:r>
            <a:endParaRPr lang="en-US" sz="800" dirty="0"/>
          </a:p>
        </p:txBody>
      </p:sp>
      <p:sp>
        <p:nvSpPr>
          <p:cNvPr id="6" name="Shape 4"/>
          <p:cNvSpPr/>
          <p:nvPr/>
        </p:nvSpPr>
        <p:spPr>
          <a:xfrm>
            <a:off x="603504" y="1563624"/>
            <a:ext cx="6656832" cy="4187952"/>
          </a:xfrm>
          <a:prstGeom prst="rect">
            <a:avLst/>
          </a:prstGeom>
          <a:solidFill>
            <a:srgbClr val="FFFFFF"/>
          </a:solidFill>
          <a:ln w="9525">
            <a:solidFill>
              <a:srgbClr val="D9D7CF"/>
            </a:solidFill>
            <a:prstDash val="solid"/>
          </a:ln>
          <a:effectLst>
            <a:outerShdw sx="100000" sy="100000" kx="0" ky="0" algn="bl" rotWithShape="0" blurRad="101600" dist="25400" dir="5400000">
              <a:srgbClr val="000000">
                <a:alpha val="12000"/>
              </a:srgbClr>
            </a:outerShdw>
          </a:effectLst>
        </p:spPr>
      </p:sp>
      <p:pic>
        <p:nvPicPr>
          <p:cNvPr id="7" name="Image 0" descr="/tmp/claude-0/-home-user-MST/d566ed43-7d55-55fc-a30e-2058971a7ea4/scratchpad/shots/10-verification.png">    </p:cNvPr>
          <p:cNvPicPr>
            <a:picLocks noChangeAspect="1"/>
          </p:cNvPicPr>
          <p:nvPr/>
        </p:nvPicPr>
        <p:blipFill>
          <a:blip r:embed="rId1"/>
          <a:srcRect l="0" r="0" t="0" b="0"/>
          <a:stretch/>
        </p:blipFill>
        <p:spPr>
          <a:xfrm>
            <a:off x="640080" y="1600200"/>
            <a:ext cx="6583680" cy="4114800"/>
          </a:xfrm>
          <a:prstGeom prst="rect">
            <a:avLst/>
          </a:prstGeom>
        </p:spPr>
      </p:pic>
      <p:sp>
        <p:nvSpPr>
          <p:cNvPr id="8" name="Text 5"/>
          <p:cNvSpPr txBox="1"/>
          <p:nvPr/>
        </p:nvSpPr>
        <p:spPr>
          <a:xfrm>
            <a:off x="640080" y="5852160"/>
            <a:ext cx="6583680" cy="228600"/>
          </a:xfrm>
          <a:prstGeom prst="rect">
            <a:avLst/>
          </a:prstGeom>
          <a:noFill/>
          <a:ln/>
        </p:spPr>
        <p:txBody>
          <a:bodyPr wrap="square" lIns="0" tIns="0" rIns="0" bIns="0" rtlCol="0" anchor="ctr"/>
          <a:lstStyle/>
          <a:p>
            <a:pPr indent="0" marL="0">
              <a:buNone/>
            </a:pPr>
            <a:r>
              <a:rPr lang="en-US" sz="850" spc="150" kern="0" dirty="0">
                <a:solidFill>
                  <a:srgbClr val="8A8883"/>
                </a:solidFill>
                <a:latin typeface="Courier New" pitchFamily="34" charset="0"/>
                <a:ea typeface="Courier New" pitchFamily="34" charset="-122"/>
                <a:cs typeface="Courier New" pitchFamily="34" charset="-120"/>
              </a:rPr>
              <a:t>VERIFICATION CENTER · BEFORE / AFTER, SIX CHECKS, AI CONFIDENCE</a:t>
            </a:r>
            <a:endParaRPr lang="en-US" sz="850" dirty="0"/>
          </a:p>
        </p:txBody>
      </p:sp>
      <p:sp>
        <p:nvSpPr>
          <p:cNvPr id="9" name="Shape 6"/>
          <p:cNvSpPr/>
          <p:nvPr/>
        </p:nvSpPr>
        <p:spPr>
          <a:xfrm>
            <a:off x="7680960" y="1645920"/>
            <a:ext cx="3840480" cy="0"/>
          </a:xfrm>
          <a:prstGeom prst="line">
            <a:avLst/>
          </a:prstGeom>
          <a:noFill/>
          <a:ln w="22225">
            <a:solidFill>
              <a:srgbClr val="1B1B1B"/>
            </a:solidFill>
            <a:prstDash val="solid"/>
          </a:ln>
        </p:spPr>
      </p:sp>
      <p:sp>
        <p:nvSpPr>
          <p:cNvPr id="10" name="Text 7"/>
          <p:cNvSpPr txBox="1"/>
          <p:nvPr/>
        </p:nvSpPr>
        <p:spPr>
          <a:xfrm>
            <a:off x="7680960" y="1737360"/>
            <a:ext cx="3840480" cy="640080"/>
          </a:xfrm>
          <a:prstGeom prst="rect">
            <a:avLst/>
          </a:prstGeom>
          <a:noFill/>
          <a:ln/>
        </p:spPr>
        <p:txBody>
          <a:bodyPr wrap="square" lIns="0" tIns="0" rIns="0" bIns="0" rtlCol="0" anchor="ctr"/>
          <a:lstStyle/>
          <a:p>
            <a:pPr indent="0" marL="0">
              <a:buNone/>
            </a:pPr>
            <a:r>
              <a:rPr lang="en-US" sz="3400" b="1" dirty="0">
                <a:solidFill>
                  <a:srgbClr val="1B1B1B"/>
                </a:solidFill>
                <a:latin typeface="Cambria" pitchFamily="34" charset="0"/>
                <a:ea typeface="Cambria" pitchFamily="34" charset="-122"/>
                <a:cs typeface="Cambria" pitchFamily="34" charset="-120"/>
              </a:rPr>
              <a:t>95% → 10%</a:t>
            </a:r>
            <a:endParaRPr lang="en-US" sz="3400" dirty="0"/>
          </a:p>
        </p:txBody>
      </p:sp>
      <p:sp>
        <p:nvSpPr>
          <p:cNvPr id="11" name="Text 8"/>
          <p:cNvSpPr txBox="1"/>
          <p:nvPr/>
        </p:nvSpPr>
        <p:spPr>
          <a:xfrm>
            <a:off x="7680960" y="2377440"/>
            <a:ext cx="3840480" cy="45720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Both ultrasonic sensors, lid-open window only</a:t>
            </a:r>
            <a:endParaRPr lang="en-US" sz="1200" dirty="0"/>
          </a:p>
        </p:txBody>
      </p:sp>
      <p:sp>
        <p:nvSpPr>
          <p:cNvPr id="12" name="Shape 9"/>
          <p:cNvSpPr/>
          <p:nvPr/>
        </p:nvSpPr>
        <p:spPr>
          <a:xfrm>
            <a:off x="7680960" y="2971800"/>
            <a:ext cx="3840480" cy="0"/>
          </a:xfrm>
          <a:prstGeom prst="line">
            <a:avLst/>
          </a:prstGeom>
          <a:noFill/>
          <a:ln w="22225">
            <a:solidFill>
              <a:srgbClr val="1B1B1B"/>
            </a:solidFill>
            <a:prstDash val="solid"/>
          </a:ln>
        </p:spPr>
      </p:sp>
      <p:sp>
        <p:nvSpPr>
          <p:cNvPr id="13" name="Text 10"/>
          <p:cNvSpPr txBox="1"/>
          <p:nvPr/>
        </p:nvSpPr>
        <p:spPr>
          <a:xfrm>
            <a:off x="7680960" y="3063240"/>
            <a:ext cx="3840480" cy="640080"/>
          </a:xfrm>
          <a:prstGeom prst="rect">
            <a:avLst/>
          </a:prstGeom>
          <a:noFill/>
          <a:ln/>
        </p:spPr>
        <p:txBody>
          <a:bodyPr wrap="square" lIns="0" tIns="0" rIns="0" bIns="0" rtlCol="0" anchor="ctr"/>
          <a:lstStyle/>
          <a:p>
            <a:pPr indent="0" marL="0">
              <a:buNone/>
            </a:pPr>
            <a:r>
              <a:rPr lang="en-US" sz="3400" b="1" dirty="0">
                <a:solidFill>
                  <a:srgbClr val="2F7A4F"/>
                </a:solidFill>
                <a:latin typeface="Cambria" pitchFamily="34" charset="0"/>
                <a:ea typeface="Cambria" pitchFamily="34" charset="-122"/>
                <a:cs typeface="Cambria" pitchFamily="34" charset="-120"/>
              </a:rPr>
              <a:t>98.0%</a:t>
            </a:r>
            <a:endParaRPr lang="en-US" sz="3400" dirty="0"/>
          </a:p>
        </p:txBody>
      </p:sp>
      <p:sp>
        <p:nvSpPr>
          <p:cNvPr id="14" name="Text 11"/>
          <p:cNvSpPr txBox="1"/>
          <p:nvPr/>
        </p:nvSpPr>
        <p:spPr>
          <a:xfrm>
            <a:off x="7680960" y="3703320"/>
            <a:ext cx="3840480" cy="45720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AI confidence, with every check shown and explained</a:t>
            </a:r>
            <a:endParaRPr lang="en-US" sz="1200" dirty="0"/>
          </a:p>
        </p:txBody>
      </p:sp>
      <p:sp>
        <p:nvSpPr>
          <p:cNvPr id="15" name="Shape 12"/>
          <p:cNvSpPr/>
          <p:nvPr/>
        </p:nvSpPr>
        <p:spPr>
          <a:xfrm>
            <a:off x="7680960" y="4297680"/>
            <a:ext cx="3840480" cy="0"/>
          </a:xfrm>
          <a:prstGeom prst="line">
            <a:avLst/>
          </a:prstGeom>
          <a:noFill/>
          <a:ln w="22225">
            <a:solidFill>
              <a:srgbClr val="1B1B1B"/>
            </a:solidFill>
            <a:prstDash val="solid"/>
          </a:ln>
        </p:spPr>
      </p:sp>
      <p:sp>
        <p:nvSpPr>
          <p:cNvPr id="16" name="Text 13"/>
          <p:cNvSpPr txBox="1"/>
          <p:nvPr/>
        </p:nvSpPr>
        <p:spPr>
          <a:xfrm>
            <a:off x="7680960" y="4389120"/>
            <a:ext cx="3840480" cy="640080"/>
          </a:xfrm>
          <a:prstGeom prst="rect">
            <a:avLst/>
          </a:prstGeom>
          <a:noFill/>
          <a:ln/>
        </p:spPr>
        <p:txBody>
          <a:bodyPr wrap="square" lIns="0" tIns="0" rIns="0" bIns="0" rtlCol="0" anchor="ctr"/>
          <a:lstStyle/>
          <a:p>
            <a:pPr indent="0" marL="0">
              <a:buNone/>
            </a:pPr>
            <a:r>
              <a:rPr lang="en-US" sz="3400" b="1" dirty="0">
                <a:solidFill>
                  <a:srgbClr val="1B1B1B"/>
                </a:solidFill>
                <a:latin typeface="Cambria" pitchFamily="34" charset="0"/>
                <a:ea typeface="Cambria" pitchFamily="34" charset="-122"/>
                <a:cs typeface="Cambria" pitchFamily="34" charset="-120"/>
              </a:rPr>
              <a:t>6 / 6</a:t>
            </a:r>
            <a:endParaRPr lang="en-US" sz="3400" dirty="0"/>
          </a:p>
        </p:txBody>
      </p:sp>
      <p:sp>
        <p:nvSpPr>
          <p:cNvPr id="17" name="Text 14"/>
          <p:cNvSpPr txBox="1"/>
          <p:nvPr/>
        </p:nvSpPr>
        <p:spPr>
          <a:xfrm>
            <a:off x="7680960" y="5029200"/>
            <a:ext cx="3840480" cy="45720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RFID, lid open, duration, level drop, lid closed, location</a:t>
            </a:r>
            <a:endParaRPr lang="en-US" sz="1200" dirty="0"/>
          </a:p>
        </p:txBody>
      </p:sp>
      <p:sp>
        <p:nvSpPr>
          <p:cNvPr id="18" name="Text 15"/>
          <p:cNvSpPr txBox="1"/>
          <p:nvPr/>
        </p:nvSpPr>
        <p:spPr>
          <a:xfrm>
            <a:off x="7680960" y="5623560"/>
            <a:ext cx="3840480" cy="548640"/>
          </a:xfrm>
          <a:prstGeom prst="rect">
            <a:avLst/>
          </a:prstGeom>
          <a:noFill/>
          <a:ln/>
        </p:spPr>
        <p:txBody>
          <a:bodyPr wrap="square" lIns="0" tIns="0" rIns="0" bIns="0" rtlCol="0" anchor="ctr"/>
          <a:lstStyle/>
          <a:p>
            <a:pPr indent="0" marL="0">
              <a:buNone/>
            </a:pPr>
            <a:r>
              <a:rPr lang="en-US" sz="1150" i="1" dirty="0">
                <a:solidFill>
                  <a:srgbClr val="B5532E"/>
                </a:solidFill>
                <a:latin typeface="Cambria" pitchFamily="34" charset="0"/>
                <a:ea typeface="Cambria" pitchFamily="34" charset="-122"/>
                <a:cs typeface="Cambria" pitchFamily="34" charset="-120"/>
              </a:rPr>
              <a:t>The contract re-checks the numbers: approval is refused if less than 50 points were removed, even by an officer.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06 · NO RECEIPT, NO EFFECT</a:t>
            </a:r>
            <a:endParaRPr lang="en-US" sz="1000" dirty="0"/>
          </a:p>
        </p:txBody>
      </p:sp>
      <p:sp>
        <p:nvSpPr>
          <p:cNvPr id="3" name="Text 1"/>
          <p:cNvSpPr txBox="1"/>
          <p:nvPr/>
        </p:nvSpPr>
        <p:spPr>
          <a:xfrm>
            <a:off x="640080" y="731520"/>
            <a:ext cx="6583680" cy="1143000"/>
          </a:xfrm>
          <a:prstGeom prst="rect">
            <a:avLst/>
          </a:prstGeom>
          <a:noFill/>
          <a:ln/>
        </p:spPr>
        <p:txBody>
          <a:bodyPr wrap="square" lIns="0" tIns="0" rIns="0" bIns="0" rtlCol="0" anchor="t"/>
          <a:lstStyle/>
          <a:p>
            <a:pPr indent="0" marL="0">
              <a:buNone/>
            </a:pPr>
            <a:r>
              <a:rPr lang="en-US" sz="2800" b="1" dirty="0">
                <a:solidFill>
                  <a:srgbClr val="1B1B1B"/>
                </a:solidFill>
                <a:latin typeface="Cambria" pitchFamily="34" charset="0"/>
                <a:ea typeface="Cambria" pitchFamily="34" charset="-122"/>
                <a:cs typeface="Cambria" pitchFamily="34" charset="-120"/>
              </a:rPr>
              <a:t>The lid is a gate. It opens only for a signed receipt.</a:t>
            </a:r>
            <a:endParaRPr lang="en-US" sz="28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07</a:t>
            </a:r>
            <a:endParaRPr lang="en-US" sz="800" dirty="0"/>
          </a:p>
        </p:txBody>
      </p:sp>
      <p:sp>
        <p:nvSpPr>
          <p:cNvPr id="6" name="Shape 4"/>
          <p:cNvSpPr/>
          <p:nvPr/>
        </p:nvSpPr>
        <p:spPr>
          <a:xfrm>
            <a:off x="8467344" y="512064"/>
            <a:ext cx="2999232" cy="5193792"/>
          </a:xfrm>
          <a:prstGeom prst="rect">
            <a:avLst/>
          </a:prstGeom>
          <a:solidFill>
            <a:srgbClr val="FFFFFF"/>
          </a:solidFill>
          <a:ln w="9525">
            <a:solidFill>
              <a:srgbClr val="D9D7CF"/>
            </a:solidFill>
            <a:prstDash val="solid"/>
          </a:ln>
          <a:effectLst>
            <a:outerShdw sx="100000" sy="100000" kx="0" ky="0" algn="bl" rotWithShape="0" blurRad="101600" dist="25400" dir="5400000">
              <a:srgbClr val="000000">
                <a:alpha val="12000"/>
              </a:srgbClr>
            </a:outerShdw>
          </a:effectLst>
        </p:spPr>
      </p:sp>
      <p:pic>
        <p:nvPicPr>
          <p:cNvPr id="7" name="Image 0" descr="/tmp/claude-0/-home-user-MST/d566ed43-7d55-55fc-a30e-2058971a7ea4/scratchpad/shots/20-worker-app-job.png">    </p:cNvPr>
          <p:cNvPicPr>
            <a:picLocks noChangeAspect="1"/>
          </p:cNvPicPr>
          <p:nvPr/>
        </p:nvPicPr>
        <p:blipFill>
          <a:blip r:embed="rId1"/>
          <a:srcRect l="0" r="0" t="0" b="0"/>
          <a:stretch/>
        </p:blipFill>
        <p:spPr>
          <a:xfrm>
            <a:off x="8503920" y="548640"/>
            <a:ext cx="2926080" cy="5120640"/>
          </a:xfrm>
          <a:prstGeom prst="rect">
            <a:avLst/>
          </a:prstGeom>
        </p:spPr>
      </p:pic>
      <p:sp>
        <p:nvSpPr>
          <p:cNvPr id="8" name="Text 5"/>
          <p:cNvSpPr txBox="1"/>
          <p:nvPr/>
        </p:nvSpPr>
        <p:spPr>
          <a:xfrm>
            <a:off x="8503920" y="5806440"/>
            <a:ext cx="2926080" cy="228600"/>
          </a:xfrm>
          <a:prstGeom prst="rect">
            <a:avLst/>
          </a:prstGeom>
          <a:noFill/>
          <a:ln/>
        </p:spPr>
        <p:txBody>
          <a:bodyPr wrap="square" lIns="0" tIns="0" rIns="0" bIns="0" rtlCol="0" anchor="ctr"/>
          <a:lstStyle/>
          <a:p>
            <a:pPr indent="0" marL="0">
              <a:buNone/>
            </a:pPr>
            <a:r>
              <a:rPr lang="en-US" sz="850" spc="150" kern="0" dirty="0">
                <a:solidFill>
                  <a:srgbClr val="8A8883"/>
                </a:solidFill>
                <a:latin typeface="Courier New" pitchFamily="34" charset="0"/>
                <a:ea typeface="Courier New" pitchFamily="34" charset="-122"/>
                <a:cs typeface="Courier New" pitchFamily="34" charset="-120"/>
              </a:rPr>
              <a:t>WORKER APP · CURRENT JOB</a:t>
            </a:r>
            <a:endParaRPr lang="en-US" sz="850" dirty="0"/>
          </a:p>
        </p:txBody>
      </p:sp>
      <p:sp>
        <p:nvSpPr>
          <p:cNvPr id="9" name="Shape 6"/>
          <p:cNvSpPr/>
          <p:nvPr/>
        </p:nvSpPr>
        <p:spPr>
          <a:xfrm>
            <a:off x="640080" y="2011680"/>
            <a:ext cx="7315200" cy="0"/>
          </a:xfrm>
          <a:prstGeom prst="line">
            <a:avLst/>
          </a:prstGeom>
          <a:noFill/>
          <a:ln w="22225">
            <a:solidFill>
              <a:srgbClr val="1B1B1B"/>
            </a:solidFill>
            <a:prstDash val="solid"/>
          </a:ln>
        </p:spPr>
      </p:sp>
      <p:sp>
        <p:nvSpPr>
          <p:cNvPr id="10" name="Text 7"/>
          <p:cNvSpPr txBox="1"/>
          <p:nvPr/>
        </p:nvSpPr>
        <p:spPr>
          <a:xfrm>
            <a:off x="640080" y="2121408"/>
            <a:ext cx="7315200" cy="365760"/>
          </a:xfrm>
          <a:prstGeom prst="rect">
            <a:avLst/>
          </a:prstGeom>
          <a:noFill/>
          <a:ln/>
        </p:spPr>
        <p:txBody>
          <a:bodyPr wrap="square" lIns="0" tIns="0" rIns="0" bIns="0" rtlCol="0" anchor="ctr"/>
          <a:lstStyle/>
          <a:p>
            <a:pPr indent="0" marL="0">
              <a:buNone/>
            </a:pPr>
            <a:r>
              <a:rPr lang="en-US" sz="1600" b="1" dirty="0">
                <a:solidFill>
                  <a:srgbClr val="2F7A4F"/>
                </a:solidFill>
                <a:latin typeface="Cambria" pitchFamily="34" charset="0"/>
                <a:ea typeface="Cambria" pitchFamily="34" charset="-122"/>
                <a:cs typeface="Cambria" pitchFamily="34" charset="-120"/>
              </a:rPr>
              <a:t>Right worker, right bin</a:t>
            </a:r>
            <a:endParaRPr lang="en-US" sz="1600" dirty="0"/>
          </a:p>
        </p:txBody>
      </p:sp>
      <p:sp>
        <p:nvSpPr>
          <p:cNvPr id="11" name="Text 8"/>
          <p:cNvSpPr txBox="1"/>
          <p:nvPr/>
        </p:nvSpPr>
        <p:spPr>
          <a:xfrm>
            <a:off x="640080" y="2487168"/>
            <a:ext cx="7315200" cy="731520"/>
          </a:xfrm>
          <a:prstGeom prst="rect">
            <a:avLst/>
          </a:prstGeom>
          <a:noFill/>
          <a:ln/>
        </p:spPr>
        <p:txBody>
          <a:bodyPr wrap="square" lIns="0" tIns="0" rIns="0" bIns="0" rtlCol="0" anchor="t"/>
          <a:lstStyle/>
          <a:p>
            <a:pPr indent="0" marL="0">
              <a:buNone/>
            </a:pPr>
            <a:r>
              <a:rPr lang="en-US" sz="1300" dirty="0">
                <a:solidFill>
                  <a:srgbClr val="4A4A48"/>
                </a:solidFill>
                <a:latin typeface="Calibri" pitchFamily="34" charset="0"/>
                <a:ea typeface="Calibri" pitchFamily="34" charset="-122"/>
                <a:cs typeface="Calibri" pitchFamily="34" charset="-120"/>
              </a:rPr>
              <a:t>Card → worker → wallet → assignment → bin → location → time all match. Servo unlocks, RFID proof recorded on MST.</a:t>
            </a:r>
            <a:endParaRPr lang="en-US" sz="1300" dirty="0"/>
          </a:p>
        </p:txBody>
      </p:sp>
      <p:sp>
        <p:nvSpPr>
          <p:cNvPr id="12" name="Shape 9"/>
          <p:cNvSpPr/>
          <p:nvPr/>
        </p:nvSpPr>
        <p:spPr>
          <a:xfrm>
            <a:off x="640080" y="3337560"/>
            <a:ext cx="7315200" cy="0"/>
          </a:xfrm>
          <a:prstGeom prst="line">
            <a:avLst/>
          </a:prstGeom>
          <a:noFill/>
          <a:ln w="22225">
            <a:solidFill>
              <a:srgbClr val="1B1B1B"/>
            </a:solidFill>
            <a:prstDash val="solid"/>
          </a:ln>
        </p:spPr>
      </p:sp>
      <p:sp>
        <p:nvSpPr>
          <p:cNvPr id="13" name="Text 10"/>
          <p:cNvSpPr txBox="1"/>
          <p:nvPr/>
        </p:nvSpPr>
        <p:spPr>
          <a:xfrm>
            <a:off x="640080" y="3447288"/>
            <a:ext cx="7315200" cy="365760"/>
          </a:xfrm>
          <a:prstGeom prst="rect">
            <a:avLst/>
          </a:prstGeom>
          <a:noFill/>
          <a:ln/>
        </p:spPr>
        <p:txBody>
          <a:bodyPr wrap="square" lIns="0" tIns="0" rIns="0" bIns="0" rtlCol="0" anchor="ctr"/>
          <a:lstStyle/>
          <a:p>
            <a:pPr indent="0" marL="0">
              <a:buNone/>
            </a:pPr>
            <a:r>
              <a:rPr lang="en-US" sz="1600" b="1" dirty="0">
                <a:solidFill>
                  <a:srgbClr val="B5532E"/>
                </a:solidFill>
                <a:latin typeface="Cambria" pitchFamily="34" charset="0"/>
                <a:ea typeface="Cambria" pitchFamily="34" charset="-122"/>
                <a:cs typeface="Cambria" pitchFamily="34" charset="-120"/>
              </a:rPr>
              <a:t>Wrong card</a:t>
            </a:r>
            <a:endParaRPr lang="en-US" sz="1600" dirty="0"/>
          </a:p>
        </p:txBody>
      </p:sp>
      <p:sp>
        <p:nvSpPr>
          <p:cNvPr id="14" name="Text 11"/>
          <p:cNvSpPr txBox="1"/>
          <p:nvPr/>
        </p:nvSpPr>
        <p:spPr>
          <a:xfrm>
            <a:off x="640080" y="3813048"/>
            <a:ext cx="7315200" cy="731520"/>
          </a:xfrm>
          <a:prstGeom prst="rect">
            <a:avLst/>
          </a:prstGeom>
          <a:noFill/>
          <a:ln/>
        </p:spPr>
        <p:txBody>
          <a:bodyPr wrap="square" lIns="0" tIns="0" rIns="0" bIns="0" rtlCol="0" anchor="t"/>
          <a:lstStyle/>
          <a:p>
            <a:pPr indent="0" marL="0">
              <a:buNone/>
            </a:pPr>
            <a:r>
              <a:rPr lang="en-US" sz="1300" dirty="0">
                <a:solidFill>
                  <a:srgbClr val="4A4A48"/>
                </a:solidFill>
                <a:latin typeface="Calibri" pitchFamily="34" charset="0"/>
                <a:ea typeface="Calibri" pitchFamily="34" charset="-122"/>
                <a:cs typeface="Calibri" pitchFamily="34" charset="-120"/>
              </a:rPr>
              <a:t>Refused at the bin. An RFID mismatch is recorded on-chain, the lid stays locked, and the officer is alerted.</a:t>
            </a:r>
            <a:endParaRPr lang="en-US" sz="1300" dirty="0"/>
          </a:p>
        </p:txBody>
      </p:sp>
      <p:sp>
        <p:nvSpPr>
          <p:cNvPr id="15" name="Shape 12"/>
          <p:cNvSpPr/>
          <p:nvPr/>
        </p:nvSpPr>
        <p:spPr>
          <a:xfrm>
            <a:off x="640080" y="4663440"/>
            <a:ext cx="7315200" cy="0"/>
          </a:xfrm>
          <a:prstGeom prst="line">
            <a:avLst/>
          </a:prstGeom>
          <a:noFill/>
          <a:ln w="22225">
            <a:solidFill>
              <a:srgbClr val="1B1B1B"/>
            </a:solidFill>
            <a:prstDash val="solid"/>
          </a:ln>
        </p:spPr>
      </p:sp>
      <p:sp>
        <p:nvSpPr>
          <p:cNvPr id="16" name="Text 13"/>
          <p:cNvSpPr txBox="1"/>
          <p:nvPr/>
        </p:nvSpPr>
        <p:spPr>
          <a:xfrm>
            <a:off x="640080" y="4773168"/>
            <a:ext cx="7315200" cy="365760"/>
          </a:xfrm>
          <a:prstGeom prst="rect">
            <a:avLst/>
          </a:prstGeom>
          <a:noFill/>
          <a:ln/>
        </p:spPr>
        <p:txBody>
          <a:bodyPr wrap="square" lIns="0" tIns="0" rIns="0" bIns="0" rtlCol="0" anchor="ctr"/>
          <a:lstStyle/>
          <a:p>
            <a:pPr indent="0" marL="0">
              <a:buNone/>
            </a:pPr>
            <a:r>
              <a:rPr lang="en-US" sz="1600" b="1" dirty="0">
                <a:solidFill>
                  <a:srgbClr val="B5532E"/>
                </a:solidFill>
                <a:latin typeface="Cambria" pitchFamily="34" charset="0"/>
                <a:ea typeface="Cambria" pitchFamily="34" charset="-122"/>
                <a:cs typeface="Cambria" pitchFamily="34" charset="-120"/>
              </a:rPr>
              <a:t>No receipt at all</a:t>
            </a:r>
            <a:endParaRPr lang="en-US" sz="1600" dirty="0"/>
          </a:p>
        </p:txBody>
      </p:sp>
      <p:sp>
        <p:nvSpPr>
          <p:cNvPr id="17" name="Text 14"/>
          <p:cNvSpPr txBox="1"/>
          <p:nvPr/>
        </p:nvSpPr>
        <p:spPr>
          <a:xfrm>
            <a:off x="640080" y="5138928"/>
            <a:ext cx="7315200" cy="731520"/>
          </a:xfrm>
          <a:prstGeom prst="rect">
            <a:avLst/>
          </a:prstGeom>
          <a:noFill/>
          <a:ln/>
        </p:spPr>
        <p:txBody>
          <a:bodyPr wrap="square" lIns="0" tIns="0" rIns="0" bIns="0" rtlCol="0" anchor="t"/>
          <a:lstStyle/>
          <a:p>
            <a:pPr indent="0" marL="0">
              <a:buNone/>
            </a:pPr>
            <a:r>
              <a:rPr lang="en-US" sz="1300" dirty="0">
                <a:solidFill>
                  <a:srgbClr val="4A4A48"/>
                </a:solidFill>
                <a:latin typeface="Calibri" pitchFamily="34" charset="0"/>
                <a:ea typeface="Calibri" pitchFamily="34" charset="-122"/>
                <a:cs typeface="Calibri" pitchFamily="34" charset="-120"/>
              </a:rPr>
              <a:t>Ghostless's actuator gate returns 403. A "ghost" action can't touch the physical world.</a:t>
            </a:r>
            <a:endParaRPr lang="en-US" sz="1300" dirty="0"/>
          </a:p>
        </p:txBody>
      </p:sp>
      <p:sp>
        <p:nvSpPr>
          <p:cNvPr id="18" name="Text 15"/>
          <p:cNvSpPr txBox="1"/>
          <p:nvPr/>
        </p:nvSpPr>
        <p:spPr>
          <a:xfrm>
            <a:off x="640080" y="5806440"/>
            <a:ext cx="7315200" cy="502920"/>
          </a:xfrm>
          <a:prstGeom prst="rect">
            <a:avLst/>
          </a:prstGeom>
          <a:noFill/>
          <a:ln/>
        </p:spPr>
        <p:txBody>
          <a:bodyPr wrap="square" lIns="0" tIns="0" rIns="0" bIns="0" rtlCol="0" anchor="ctr"/>
          <a:lstStyle/>
          <a:p>
            <a:pPr indent="0" marL="0">
              <a:buNone/>
            </a:pPr>
            <a:r>
              <a:rPr lang="en-US" sz="1100" i="1" dirty="0">
                <a:solidFill>
                  <a:srgbClr val="8A8883"/>
                </a:solidFill>
                <a:latin typeface="Calibri" pitchFamily="34" charset="0"/>
                <a:ea typeface="Calibri" pitchFamily="34" charset="-122"/>
                <a:cs typeface="Calibri" pitchFamily="34" charset="-120"/>
              </a:rPr>
              <a:t>Honest boundary: an action that never asks for a receipt (cash under the table) can't be seen by any ledger. Ghostless shrinks that gap by putting the gate on the machine.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07 · WE BROUGHT THE ATTACKER</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2800" b="1" dirty="0">
                <a:solidFill>
                  <a:srgbClr val="1B1B1B"/>
                </a:solidFill>
                <a:latin typeface="Cambria" pitchFamily="34" charset="0"/>
                <a:ea typeface="Cambria" pitchFamily="34" charset="-122"/>
                <a:cs typeface="Cambria" pitchFamily="34" charset="-120"/>
              </a:rPr>
              <a:t>Every fraud we could think of, run against the live system.</a:t>
            </a:r>
            <a:endParaRPr lang="en-US" sz="28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881360" cy="914400"/>
        </p:xfrm>
        <a:graphic>
          <a:graphicData uri="http://schemas.openxmlformats.org/drawingml/2006/table">
            <a:tbl>
              <a:tblPr/>
              <a:tblGrid>
                <a:gridCol w="3566160"/>
                <a:gridCol w="1828800"/>
                <a:gridCol w="1828800"/>
                <a:gridCol w="3657600"/>
              </a:tblGrid>
              <a:tr h="429768">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Attack</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Plain log</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Batch anchor</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Ghostless</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Fake "bin full" (blocked sensor)</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Rejected by AI, incident on-chain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Wrong worker at the bin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Unseen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Unseen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Lid locked, mismatch on-chain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Partial collection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Investigation; ledger refuses payment</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Edit a decision after the fact</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4A4A48"/>
                          </a:solidFill>
                          <a:latin typeface="Calibri" pitchFamily="34" charset="0"/>
                          <a:ea typeface="Calibri" pitchFamily="34" charset="-122"/>
                          <a:cs typeface="Calibri" pitchFamily="34" charset="-120"/>
                        </a:rPr>
                        <a:t>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4A4A48"/>
                          </a:solidFill>
                          <a:latin typeface="Calibri" pitchFamily="34" charset="0"/>
                          <a:ea typeface="Calibri" pitchFamily="34" charset="-122"/>
                          <a:cs typeface="Calibri" pitchFamily="34" charset="-120"/>
                        </a:rPr>
                        <a:t>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Detected &amp; slashed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Omit a receipted decision</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Detected &amp; slashed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Two conflicting records for one slot</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Slashed in 1 tx</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Never publish a window</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4A4A48"/>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Slashed (unsealed)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Falsify policy fields</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dirty="0">
                          <a:solidFill>
                            <a:srgbClr val="B5532E"/>
                          </a:solidFill>
                          <a:latin typeface="Calibri" pitchFamily="34" charset="0"/>
                          <a:ea typeface="Calibri" pitchFamily="34" charset="-122"/>
                          <a:cs typeface="Calibri" pitchFamily="34" charset="-120"/>
                        </a:rPr>
                        <a:t>Not detected</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00" b="1" dirty="0">
                          <a:solidFill>
                            <a:srgbClr val="2F7A4F"/>
                          </a:solidFill>
                          <a:latin typeface="Calibri" pitchFamily="34" charset="0"/>
                          <a:ea typeface="Calibri" pitchFamily="34" charset="-122"/>
                          <a:cs typeface="Calibri" pitchFamily="34" charset="-120"/>
                        </a:rPr>
                        <a:t>Slashed by fraud proof</a:t>
                      </a:r>
                      <a:endParaRPr lang="en-US" sz="120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050" dirty="0">
                <a:solidFill>
                  <a:srgbClr val="8A8883"/>
                </a:solidFill>
                <a:latin typeface="Calibri" pitchFamily="34" charset="0"/>
                <a:ea typeface="Calibri" pitchFamily="34" charset="-122"/>
                <a:cs typeface="Calibri" pitchFamily="34" charset="-120"/>
              </a:rPr>
              <a:t>Top 3: our waste flow, tested end to end in the UI on a local chain.  Bottom 5: Ghostless red-team harness, run live on MST Testnet. Slash tx e.g. 0x0278691f…0e2 on MSTScan.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08 · MEASURED ON MST TESTNET</a:t>
            </a:r>
            <a:endParaRPr lang="en-US" sz="1000" dirty="0"/>
          </a:p>
        </p:txBody>
      </p:sp>
      <p:sp>
        <p:nvSpPr>
          <p:cNvPr id="3" name="Text 1"/>
          <p:cNvSpPr txBox="1"/>
          <p:nvPr/>
        </p:nvSpPr>
        <p:spPr>
          <a:xfrm>
            <a:off x="640080" y="731520"/>
            <a:ext cx="6400800" cy="1143000"/>
          </a:xfrm>
          <a:prstGeom prst="rect">
            <a:avLst/>
          </a:prstGeom>
          <a:noFill/>
          <a:ln/>
        </p:spPr>
        <p:txBody>
          <a:bodyPr wrap="square" lIns="0" tIns="0" rIns="0" bIns="0" rtlCol="0" anchor="t"/>
          <a:lstStyle/>
          <a:p>
            <a:pPr indent="0" marL="0">
              <a:buNone/>
            </a:pPr>
            <a:r>
              <a:rPr lang="en-US" sz="2800" b="1" dirty="0">
                <a:solidFill>
                  <a:srgbClr val="1B1B1B"/>
                </a:solidFill>
                <a:latin typeface="Cambria" pitchFamily="34" charset="0"/>
                <a:ea typeface="Cambria" pitchFamily="34" charset="-122"/>
                <a:cs typeface="Cambria" pitchFamily="34" charset="-120"/>
              </a:rPr>
              <a:t>Completeness costs less than logging one decision at a time.</a:t>
            </a:r>
            <a:endParaRPr lang="en-US" sz="28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09</a:t>
            </a:r>
            <a:endParaRPr lang="en-US" sz="800" dirty="0"/>
          </a:p>
        </p:txBody>
      </p:sp>
      <p:graphicFrame>
        <p:nvGraphicFramePr>
          <p:cNvPr id="6" name="Chart 0" descr=""/>
          <p:cNvGraphicFramePr/>
          <p:nvPr/>
        </p:nvGraphicFramePr>
        <p:xfrm>
          <a:off x="640080" y="2011680"/>
          <a:ext cx="6400800" cy="40233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2011680"/>
            <a:ext cx="3840480" cy="0"/>
          </a:xfrm>
          <a:prstGeom prst="line">
            <a:avLst/>
          </a:prstGeom>
          <a:noFill/>
          <a:ln w="22225">
            <a:solidFill>
              <a:srgbClr val="1B1B1B"/>
            </a:solidFill>
            <a:prstDash val="solid"/>
          </a:ln>
        </p:spPr>
      </p:sp>
      <p:sp>
        <p:nvSpPr>
          <p:cNvPr id="8" name="Text 5"/>
          <p:cNvSpPr txBox="1"/>
          <p:nvPr/>
        </p:nvSpPr>
        <p:spPr>
          <a:xfrm>
            <a:off x="7680960" y="2103120"/>
            <a:ext cx="3840480" cy="685800"/>
          </a:xfrm>
          <a:prstGeom prst="rect">
            <a:avLst/>
          </a:prstGeom>
          <a:noFill/>
          <a:ln/>
        </p:spPr>
        <p:txBody>
          <a:bodyPr wrap="square" lIns="0" tIns="0" rIns="0" bIns="0" rtlCol="0" anchor="ctr"/>
          <a:lstStyle/>
          <a:p>
            <a:pPr indent="0" marL="0">
              <a:buNone/>
            </a:pPr>
            <a:r>
              <a:rPr lang="en-US" sz="3800" b="1" dirty="0">
                <a:solidFill>
                  <a:srgbClr val="3D6E78"/>
                </a:solidFill>
                <a:latin typeface="Cambria" pitchFamily="34" charset="0"/>
                <a:ea typeface="Cambria" pitchFamily="34" charset="-122"/>
                <a:cs typeface="Cambria" pitchFamily="34" charset="-120"/>
              </a:rPr>
              <a:t>99.6×</a:t>
            </a:r>
            <a:endParaRPr lang="en-US" sz="3800" dirty="0"/>
          </a:p>
        </p:txBody>
      </p:sp>
      <p:sp>
        <p:nvSpPr>
          <p:cNvPr id="9" name="Text 6"/>
          <p:cNvSpPr txBox="1"/>
          <p:nvPr/>
        </p:nvSpPr>
        <p:spPr>
          <a:xfrm>
            <a:off x="7680960" y="2788920"/>
            <a:ext cx="3840480" cy="41148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cheaper per decision than anchoring each one</a:t>
            </a:r>
            <a:endParaRPr lang="en-US" sz="1200" dirty="0"/>
          </a:p>
        </p:txBody>
      </p:sp>
      <p:sp>
        <p:nvSpPr>
          <p:cNvPr id="10" name="Shape 7"/>
          <p:cNvSpPr/>
          <p:nvPr/>
        </p:nvSpPr>
        <p:spPr>
          <a:xfrm>
            <a:off x="7680960" y="3383280"/>
            <a:ext cx="3840480" cy="0"/>
          </a:xfrm>
          <a:prstGeom prst="line">
            <a:avLst/>
          </a:prstGeom>
          <a:noFill/>
          <a:ln w="22225">
            <a:solidFill>
              <a:srgbClr val="1B1B1B"/>
            </a:solidFill>
            <a:prstDash val="solid"/>
          </a:ln>
        </p:spPr>
      </p:sp>
      <p:sp>
        <p:nvSpPr>
          <p:cNvPr id="11" name="Text 8"/>
          <p:cNvSpPr txBox="1"/>
          <p:nvPr/>
        </p:nvSpPr>
        <p:spPr>
          <a:xfrm>
            <a:off x="7680960" y="3474720"/>
            <a:ext cx="3840480" cy="685800"/>
          </a:xfrm>
          <a:prstGeom prst="rect">
            <a:avLst/>
          </a:prstGeom>
          <a:noFill/>
          <a:ln/>
        </p:spPr>
        <p:txBody>
          <a:bodyPr wrap="square" lIns="0" tIns="0" rIns="0" bIns="0" rtlCol="0" anchor="ctr"/>
          <a:lstStyle/>
          <a:p>
            <a:pPr indent="0" marL="0">
              <a:buNone/>
            </a:pPr>
            <a:r>
              <a:rPr lang="en-US" sz="3800" b="1" dirty="0">
                <a:solidFill>
                  <a:srgbClr val="1B1B1B"/>
                </a:solidFill>
                <a:latin typeface="Cambria" pitchFamily="34" charset="0"/>
                <a:ea typeface="Cambria" pitchFamily="34" charset="-122"/>
                <a:cs typeface="Cambria" pitchFamily="34" charset="-120"/>
              </a:rPr>
              <a:t>683</a:t>
            </a:r>
            <a:endParaRPr lang="en-US" sz="3800" dirty="0"/>
          </a:p>
        </p:txBody>
      </p:sp>
      <p:sp>
        <p:nvSpPr>
          <p:cNvPr id="12" name="Text 9"/>
          <p:cNvSpPr txBox="1"/>
          <p:nvPr/>
        </p:nvSpPr>
        <p:spPr>
          <a:xfrm>
            <a:off x="7680960" y="4160520"/>
            <a:ext cx="3840480" cy="41148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gas per decision, window of 256</a:t>
            </a:r>
            <a:endParaRPr lang="en-US" sz="1200" dirty="0"/>
          </a:p>
        </p:txBody>
      </p:sp>
      <p:sp>
        <p:nvSpPr>
          <p:cNvPr id="13" name="Shape 10"/>
          <p:cNvSpPr/>
          <p:nvPr/>
        </p:nvSpPr>
        <p:spPr>
          <a:xfrm>
            <a:off x="7680960" y="4754880"/>
            <a:ext cx="3840480" cy="0"/>
          </a:xfrm>
          <a:prstGeom prst="line">
            <a:avLst/>
          </a:prstGeom>
          <a:noFill/>
          <a:ln w="22225">
            <a:solidFill>
              <a:srgbClr val="1B1B1B"/>
            </a:solidFill>
            <a:prstDash val="solid"/>
          </a:ln>
        </p:spPr>
      </p:sp>
      <p:sp>
        <p:nvSpPr>
          <p:cNvPr id="14" name="Text 11"/>
          <p:cNvSpPr txBox="1"/>
          <p:nvPr/>
        </p:nvSpPr>
        <p:spPr>
          <a:xfrm>
            <a:off x="7680960" y="4846320"/>
            <a:ext cx="3840480" cy="685800"/>
          </a:xfrm>
          <a:prstGeom prst="rect">
            <a:avLst/>
          </a:prstGeom>
          <a:noFill/>
          <a:ln/>
        </p:spPr>
        <p:txBody>
          <a:bodyPr wrap="square" lIns="0" tIns="0" rIns="0" bIns="0" rtlCol="0" anchor="ctr"/>
          <a:lstStyle/>
          <a:p>
            <a:pPr indent="0" marL="0">
              <a:buNone/>
            </a:pPr>
            <a:r>
              <a:rPr lang="en-US" sz="3800" b="1" dirty="0">
                <a:solidFill>
                  <a:srgbClr val="1B1B1B"/>
                </a:solidFill>
                <a:latin typeface="Cambria" pitchFamily="34" charset="0"/>
                <a:ea typeface="Cambria" pitchFamily="34" charset="-122"/>
                <a:cs typeface="Cambria" pitchFamily="34" charset="-120"/>
              </a:rPr>
              <a:t>3.0 s</a:t>
            </a:r>
            <a:endParaRPr lang="en-US" sz="3800" dirty="0"/>
          </a:p>
        </p:txBody>
      </p:sp>
      <p:sp>
        <p:nvSpPr>
          <p:cNvPr id="15" name="Text 12"/>
          <p:cNvSpPr txBox="1"/>
          <p:nvPr/>
        </p:nvSpPr>
        <p:spPr>
          <a:xfrm>
            <a:off x="7680960" y="5532120"/>
            <a:ext cx="3840480" cy="411480"/>
          </a:xfrm>
          <a:prstGeom prst="rect">
            <a:avLst/>
          </a:prstGeom>
          <a:noFill/>
          <a:ln/>
        </p:spPr>
        <p:txBody>
          <a:bodyPr wrap="square" lIns="0" tIns="0" rIns="0" bIns="0" rtlCol="0" anchor="ctr"/>
          <a:lstStyle/>
          <a:p>
            <a:pPr indent="0" marL="0">
              <a:buNone/>
            </a:pPr>
            <a:r>
              <a:rPr lang="en-US" sz="1200" dirty="0">
                <a:solidFill>
                  <a:srgbClr val="4A4A48"/>
                </a:solidFill>
                <a:latin typeface="Calibri" pitchFamily="34" charset="0"/>
                <a:ea typeface="Calibri" pitchFamily="34" charset="-122"/>
                <a:cs typeface="Calibri" pitchFamily="34" charset="-120"/>
              </a:rPr>
              <a:t>average MST block time, measured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09 · WHY A BLOCKCHAIN</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Because the parties don't trust each other, and nobody should own the record.</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10</a:t>
            </a:r>
            <a:endParaRPr lang="en-US" sz="800" dirty="0"/>
          </a:p>
        </p:txBody>
      </p:sp>
      <p:sp>
        <p:nvSpPr>
          <p:cNvPr id="6" name="Shape 4"/>
          <p:cNvSpPr/>
          <p:nvPr/>
        </p:nvSpPr>
        <p:spPr>
          <a:xfrm>
            <a:off x="640080" y="2011680"/>
            <a:ext cx="5212080" cy="0"/>
          </a:xfrm>
          <a:prstGeom prst="line">
            <a:avLst/>
          </a:prstGeom>
          <a:noFill/>
          <a:ln w="22225">
            <a:solidFill>
              <a:srgbClr val="1B1B1B"/>
            </a:solidFill>
            <a:prstDash val="solid"/>
          </a:ln>
        </p:spPr>
      </p:sp>
      <p:sp>
        <p:nvSpPr>
          <p:cNvPr id="7" name="Text 5"/>
          <p:cNvSpPr txBox="1"/>
          <p:nvPr/>
        </p:nvSpPr>
        <p:spPr>
          <a:xfrm>
            <a:off x="640080" y="2121408"/>
            <a:ext cx="5212080" cy="365760"/>
          </a:xfrm>
          <a:prstGeom prst="rect">
            <a:avLst/>
          </a:prstGeom>
          <a:noFill/>
          <a:ln/>
        </p:spPr>
        <p:txBody>
          <a:bodyPr wrap="square" lIns="0" tIns="0" rIns="0" bIns="0"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Buyer ↔ vendor</a:t>
            </a:r>
            <a:endParaRPr lang="en-US" sz="1800" dirty="0"/>
          </a:p>
        </p:txBody>
      </p:sp>
      <p:sp>
        <p:nvSpPr>
          <p:cNvPr id="8" name="Text 6"/>
          <p:cNvSpPr txBox="1"/>
          <p:nvPr/>
        </p:nvSpPr>
        <p:spPr>
          <a:xfrm>
            <a:off x="640080" y="2487168"/>
            <a:ext cx="5212080" cy="1005840"/>
          </a:xfrm>
          <a:prstGeom prst="rect">
            <a:avLst/>
          </a:prstGeom>
          <a:noFill/>
          <a:ln/>
        </p:spPr>
        <p:txBody>
          <a:bodyPr wrap="square" lIns="0" tIns="0" rIns="0" bIns="0" rtlCol="0" anchor="t"/>
          <a:lstStyle/>
          <a:p>
            <a:pPr indent="0" marL="0">
              <a:buNone/>
            </a:pPr>
            <a:r>
              <a:rPr lang="en-US" sz="1350" dirty="0">
                <a:solidFill>
                  <a:srgbClr val="4A4A48"/>
                </a:solidFill>
                <a:latin typeface="Calibri" pitchFamily="34" charset="0"/>
                <a:ea typeface="Calibri" pitchFamily="34" charset="-122"/>
                <a:cs typeface="Calibri" pitchFamily="34" charset="-120"/>
              </a:rPr>
              <a:t>A tech park escrows funds; the hauler is paid automatically when proof verifies. Neither side can rewrite history or hold payment hostage.</a:t>
            </a:r>
            <a:endParaRPr lang="en-US" sz="1350" dirty="0"/>
          </a:p>
        </p:txBody>
      </p:sp>
      <p:sp>
        <p:nvSpPr>
          <p:cNvPr id="9" name="Shape 7"/>
          <p:cNvSpPr/>
          <p:nvPr/>
        </p:nvSpPr>
        <p:spPr>
          <a:xfrm>
            <a:off x="6217920" y="2011680"/>
            <a:ext cx="5212080" cy="0"/>
          </a:xfrm>
          <a:prstGeom prst="line">
            <a:avLst/>
          </a:prstGeom>
          <a:noFill/>
          <a:ln w="22225">
            <a:solidFill>
              <a:srgbClr val="1B1B1B"/>
            </a:solidFill>
            <a:prstDash val="solid"/>
          </a:ln>
        </p:spPr>
      </p:sp>
      <p:sp>
        <p:nvSpPr>
          <p:cNvPr id="10" name="Text 8"/>
          <p:cNvSpPr txBox="1"/>
          <p:nvPr/>
        </p:nvSpPr>
        <p:spPr>
          <a:xfrm>
            <a:off x="6217920" y="2121408"/>
            <a:ext cx="5212080" cy="365760"/>
          </a:xfrm>
          <a:prstGeom prst="rect">
            <a:avLst/>
          </a:prstGeom>
          <a:noFill/>
          <a:ln/>
        </p:spPr>
        <p:txBody>
          <a:bodyPr wrap="square" lIns="0" tIns="0" rIns="0" bIns="0"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The device owns the proof</a:t>
            </a:r>
            <a:endParaRPr lang="en-US" sz="1800" dirty="0"/>
          </a:p>
        </p:txBody>
      </p:sp>
      <p:sp>
        <p:nvSpPr>
          <p:cNvPr id="11" name="Text 9"/>
          <p:cNvSpPr txBox="1"/>
          <p:nvPr/>
        </p:nvSpPr>
        <p:spPr>
          <a:xfrm>
            <a:off x="6217920" y="2487168"/>
            <a:ext cx="5212080" cy="1005840"/>
          </a:xfrm>
          <a:prstGeom prst="rect">
            <a:avLst/>
          </a:prstGeom>
          <a:noFill/>
          <a:ln/>
        </p:spPr>
        <p:txBody>
          <a:bodyPr wrap="square" lIns="0" tIns="0" rIns="0" bIns="0" rtlCol="0" anchor="t"/>
          <a:lstStyle/>
          <a:p>
            <a:pPr indent="0" marL="0">
              <a:buNone/>
            </a:pPr>
            <a:r>
              <a:rPr lang="en-US" sz="1350" dirty="0">
                <a:solidFill>
                  <a:srgbClr val="4A4A48"/>
                </a:solidFill>
                <a:latin typeface="Calibri" pitchFamily="34" charset="0"/>
                <a:ea typeface="Calibri" pitchFamily="34" charset="-122"/>
                <a:cs typeface="Calibri" pitchFamily="34" charset="-120"/>
              </a:rPr>
              <a:t>Readings are signed by the bin's own key. Even we can't forge a pickup.</a:t>
            </a:r>
            <a:endParaRPr lang="en-US" sz="1350" dirty="0"/>
          </a:p>
        </p:txBody>
      </p:sp>
      <p:sp>
        <p:nvSpPr>
          <p:cNvPr id="12" name="Shape 10"/>
          <p:cNvSpPr/>
          <p:nvPr/>
        </p:nvSpPr>
        <p:spPr>
          <a:xfrm>
            <a:off x="640080" y="3840480"/>
            <a:ext cx="5212080" cy="0"/>
          </a:xfrm>
          <a:prstGeom prst="line">
            <a:avLst/>
          </a:prstGeom>
          <a:noFill/>
          <a:ln w="22225">
            <a:solidFill>
              <a:srgbClr val="1B1B1B"/>
            </a:solidFill>
            <a:prstDash val="solid"/>
          </a:ln>
        </p:spPr>
      </p:sp>
      <p:sp>
        <p:nvSpPr>
          <p:cNvPr id="13" name="Text 11"/>
          <p:cNvSpPr txBox="1"/>
          <p:nvPr/>
        </p:nvSpPr>
        <p:spPr>
          <a:xfrm>
            <a:off x="640080" y="3950208"/>
            <a:ext cx="5212080" cy="365760"/>
          </a:xfrm>
          <a:prstGeom prst="rect">
            <a:avLst/>
          </a:prstGeom>
          <a:noFill/>
          <a:ln/>
        </p:spPr>
        <p:txBody>
          <a:bodyPr wrap="square" lIns="0" tIns="0" rIns="0" bIns="0"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Auditors need no login</a:t>
            </a:r>
            <a:endParaRPr lang="en-US" sz="1800" dirty="0"/>
          </a:p>
        </p:txBody>
      </p:sp>
      <p:sp>
        <p:nvSpPr>
          <p:cNvPr id="14" name="Text 12"/>
          <p:cNvSpPr txBox="1"/>
          <p:nvPr/>
        </p:nvSpPr>
        <p:spPr>
          <a:xfrm>
            <a:off x="640080" y="4315968"/>
            <a:ext cx="5212080" cy="1005840"/>
          </a:xfrm>
          <a:prstGeom prst="rect">
            <a:avLst/>
          </a:prstGeom>
          <a:noFill/>
          <a:ln/>
        </p:spPr>
        <p:txBody>
          <a:bodyPr wrap="square" lIns="0" tIns="0" rIns="0" bIns="0" rtlCol="0" anchor="t"/>
          <a:lstStyle/>
          <a:p>
            <a:pPr indent="0" marL="0">
              <a:buNone/>
            </a:pPr>
            <a:r>
              <a:rPr lang="en-US" sz="1350" dirty="0">
                <a:solidFill>
                  <a:srgbClr val="4A4A48"/>
                </a:solidFill>
                <a:latin typeface="Calibri" pitchFamily="34" charset="0"/>
                <a:ea typeface="Calibri" pitchFamily="34" charset="-122"/>
                <a:cs typeface="Calibri" pitchFamily="34" charset="-120"/>
              </a:rPr>
              <a:t>A pollution board or ESG auditor verifies from MSTScan alone, without trusting us.</a:t>
            </a:r>
            <a:endParaRPr lang="en-US" sz="1350" dirty="0"/>
          </a:p>
        </p:txBody>
      </p:sp>
      <p:sp>
        <p:nvSpPr>
          <p:cNvPr id="15" name="Shape 13"/>
          <p:cNvSpPr/>
          <p:nvPr/>
        </p:nvSpPr>
        <p:spPr>
          <a:xfrm>
            <a:off x="6217920" y="3840480"/>
            <a:ext cx="5212080" cy="0"/>
          </a:xfrm>
          <a:prstGeom prst="line">
            <a:avLst/>
          </a:prstGeom>
          <a:noFill/>
          <a:ln w="22225">
            <a:solidFill>
              <a:srgbClr val="1B1B1B"/>
            </a:solidFill>
            <a:prstDash val="solid"/>
          </a:ln>
        </p:spPr>
      </p:sp>
      <p:sp>
        <p:nvSpPr>
          <p:cNvPr id="16" name="Text 14"/>
          <p:cNvSpPr txBox="1"/>
          <p:nvPr/>
        </p:nvSpPr>
        <p:spPr>
          <a:xfrm>
            <a:off x="6217920" y="3950208"/>
            <a:ext cx="5212080" cy="365760"/>
          </a:xfrm>
          <a:prstGeom prst="rect">
            <a:avLst/>
          </a:prstGeom>
          <a:noFill/>
          <a:ln/>
        </p:spPr>
        <p:txBody>
          <a:bodyPr wrap="square" lIns="0" tIns="0" rIns="0" bIns="0"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Cheating costs money</a:t>
            </a:r>
            <a:endParaRPr lang="en-US" sz="1800" dirty="0"/>
          </a:p>
        </p:txBody>
      </p:sp>
      <p:sp>
        <p:nvSpPr>
          <p:cNvPr id="17" name="Text 15"/>
          <p:cNvSpPr txBox="1"/>
          <p:nvPr/>
        </p:nvSpPr>
        <p:spPr>
          <a:xfrm>
            <a:off x="6217920" y="4315968"/>
            <a:ext cx="5212080" cy="1005840"/>
          </a:xfrm>
          <a:prstGeom prst="rect">
            <a:avLst/>
          </a:prstGeom>
          <a:noFill/>
          <a:ln/>
        </p:spPr>
        <p:txBody>
          <a:bodyPr wrap="square" lIns="0" tIns="0" rIns="0" bIns="0" rtlCol="0" anchor="t"/>
          <a:lstStyle/>
          <a:p>
            <a:pPr indent="0" marL="0">
              <a:buNone/>
            </a:pPr>
            <a:r>
              <a:rPr lang="en-US" sz="1350" dirty="0">
                <a:solidFill>
                  <a:srgbClr val="4A4A48"/>
                </a:solidFill>
                <a:latin typeface="Calibri" pitchFamily="34" charset="0"/>
                <a:ea typeface="Calibri" pitchFamily="34" charset="-122"/>
                <a:cs typeface="Calibri" pitchFamily="34" charset="-120"/>
              </a:rPr>
              <a:t>Operators post a bond. Omission or equivocation is slashed on-chain and pays the reporter.</a:t>
            </a:r>
            <a:endParaRPr lang="en-US" sz="1350" dirty="0"/>
          </a:p>
        </p:txBody>
      </p:sp>
      <p:sp>
        <p:nvSpPr>
          <p:cNvPr id="18" name="Text 16"/>
          <p:cNvSpPr txBox="1"/>
          <p:nvPr/>
        </p:nvSpPr>
        <p:spPr>
          <a:xfrm>
            <a:off x="640080" y="5760720"/>
            <a:ext cx="10881360" cy="411480"/>
          </a:xfrm>
          <a:prstGeom prst="rect">
            <a:avLst/>
          </a:prstGeom>
          <a:noFill/>
          <a:ln/>
        </p:spPr>
        <p:txBody>
          <a:bodyPr wrap="square" lIns="0" tIns="0" rIns="0" bIns="0" rtlCol="0" anchor="ctr"/>
          <a:lstStyle/>
          <a:p>
            <a:pPr indent="0" marL="0">
              <a:buNone/>
            </a:pPr>
            <a:r>
              <a:rPr lang="en-US" sz="1400" i="1" dirty="0">
                <a:solidFill>
                  <a:srgbClr val="1B1B1B"/>
                </a:solidFill>
                <a:latin typeface="Cambria" pitchFamily="34" charset="0"/>
                <a:ea typeface="Cambria" pitchFamily="34" charset="-122"/>
                <a:cs typeface="Cambria" pitchFamily="34" charset="-120"/>
              </a:rPr>
              <a:t>A database can't do these four things between companies that don't trust each other. That's the line we hold.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618"/>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9CC3CB"/>
                </a:solidFill>
                <a:latin typeface="Courier New" pitchFamily="34" charset="0"/>
                <a:ea typeface="Courier New" pitchFamily="34" charset="-122"/>
                <a:cs typeface="Courier New" pitchFamily="34" charset="-120"/>
              </a:rPr>
              <a:t>10 · WHERE IT GOES</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4000" b="1" dirty="0">
                <a:solidFill>
                  <a:srgbClr val="F2F1EC"/>
                </a:solidFill>
                <a:latin typeface="Cambria" pitchFamily="34" charset="0"/>
                <a:ea typeface="Cambria" pitchFamily="34" charset="-122"/>
                <a:cs typeface="Cambria" pitchFamily="34" charset="-120"/>
              </a:rPr>
              <a:t>The bin hires and pays its own truck.</a:t>
            </a:r>
            <a:endParaRPr lang="en-US" sz="40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6F7375"/>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6F7375"/>
                </a:solidFill>
                <a:latin typeface="Courier New" pitchFamily="34" charset="0"/>
                <a:ea typeface="Courier New" pitchFamily="34" charset="-122"/>
                <a:cs typeface="Courier New" pitchFamily="34" charset="-120"/>
              </a:rPr>
              <a:t>11</a:t>
            </a:r>
            <a:endParaRPr lang="en-US" sz="800" dirty="0"/>
          </a:p>
        </p:txBody>
      </p:sp>
      <p:sp>
        <p:nvSpPr>
          <p:cNvPr id="6" name="Text 4"/>
          <p:cNvSpPr txBox="1"/>
          <p:nvPr/>
        </p:nvSpPr>
        <p:spPr>
          <a:xfrm>
            <a:off x="640080" y="1874520"/>
            <a:ext cx="7498080" cy="1280160"/>
          </a:xfrm>
          <a:prstGeom prst="rect">
            <a:avLst/>
          </a:prstGeom>
          <a:noFill/>
          <a:ln/>
        </p:spPr>
        <p:txBody>
          <a:bodyPr wrap="square" lIns="0" tIns="0" rIns="0" bIns="0" rtlCol="0" anchor="t"/>
          <a:lstStyle/>
          <a:p>
            <a:pPr indent="0" marL="0">
              <a:buNone/>
            </a:pPr>
            <a:r>
              <a:rPr lang="en-US" sz="1600" dirty="0">
                <a:solidFill>
                  <a:srgbClr val="C9C8C2"/>
                </a:solidFill>
                <a:latin typeface="Calibri" pitchFamily="34" charset="0"/>
                <a:ea typeface="Calibri" pitchFamily="34" charset="-122"/>
                <a:cs typeface="Calibri" pitchFamily="34" charset="-120"/>
              </a:rPr>
              <a:t>Give every bin an MST wallet and a monthly budget. When it's full, it posts the job, accepts the nearest truck, opens only for that truck, measures the pickup, and pays it directly. Humans handle exceptions, not every approval.</a:t>
            </a:r>
            <a:endParaRPr lang="en-US" sz="1600" dirty="0"/>
          </a:p>
        </p:txBody>
      </p:sp>
      <p:sp>
        <p:nvSpPr>
          <p:cNvPr id="7" name="Shape 5"/>
          <p:cNvSpPr/>
          <p:nvPr/>
        </p:nvSpPr>
        <p:spPr>
          <a:xfrm>
            <a:off x="640080" y="3657600"/>
            <a:ext cx="2468880" cy="1280160"/>
          </a:xfrm>
          <a:prstGeom prst="rect">
            <a:avLst/>
          </a:prstGeom>
          <a:solidFill>
            <a:srgbClr val="212326"/>
          </a:solidFill>
          <a:ln w="9525">
            <a:solidFill>
              <a:srgbClr val="3A3D41"/>
            </a:solidFill>
            <a:prstDash val="solid"/>
          </a:ln>
        </p:spPr>
      </p:sp>
      <p:sp>
        <p:nvSpPr>
          <p:cNvPr id="8" name="Text 6"/>
          <p:cNvSpPr txBox="1"/>
          <p:nvPr/>
        </p:nvSpPr>
        <p:spPr>
          <a:xfrm>
            <a:off x="868680" y="3840480"/>
            <a:ext cx="2103120" cy="457200"/>
          </a:xfrm>
          <a:prstGeom prst="rect">
            <a:avLst/>
          </a:prstGeom>
          <a:noFill/>
          <a:ln/>
        </p:spPr>
        <p:txBody>
          <a:bodyPr wrap="square" lIns="0" tIns="0" rIns="0" bIns="0" rtlCol="0" anchor="ctr"/>
          <a:lstStyle/>
          <a:p>
            <a:pPr indent="0" marL="0">
              <a:buNone/>
            </a:pPr>
            <a:r>
              <a:rPr lang="en-US" sz="1700" b="1" dirty="0">
                <a:solidFill>
                  <a:srgbClr val="F2F1EC"/>
                </a:solidFill>
                <a:latin typeface="Cambria" pitchFamily="34" charset="0"/>
                <a:ea typeface="Cambria" pitchFamily="34" charset="-122"/>
                <a:cs typeface="Cambria" pitchFamily="34" charset="-120"/>
              </a:rPr>
              <a:t>Bin wallet</a:t>
            </a:r>
            <a:endParaRPr lang="en-US" sz="1700" dirty="0"/>
          </a:p>
        </p:txBody>
      </p:sp>
      <p:sp>
        <p:nvSpPr>
          <p:cNvPr id="9" name="Text 7"/>
          <p:cNvSpPr txBox="1"/>
          <p:nvPr/>
        </p:nvSpPr>
        <p:spPr>
          <a:xfrm>
            <a:off x="868680" y="4343400"/>
            <a:ext cx="2103120" cy="365760"/>
          </a:xfrm>
          <a:prstGeom prst="rect">
            <a:avLst/>
          </a:prstGeom>
          <a:noFill/>
          <a:ln/>
        </p:spPr>
        <p:txBody>
          <a:bodyPr wrap="square" lIns="0" tIns="0" rIns="0" bIns="0" rtlCol="0" anchor="ctr"/>
          <a:lstStyle/>
          <a:p>
            <a:pPr indent="0" marL="0">
              <a:buNone/>
            </a:pPr>
            <a:r>
              <a:rPr lang="en-US" sz="1000" spc="150" kern="0" dirty="0">
                <a:solidFill>
                  <a:srgbClr val="9CC3CB"/>
                </a:solidFill>
                <a:latin typeface="Courier New" pitchFamily="34" charset="0"/>
                <a:ea typeface="Courier New" pitchFamily="34" charset="-122"/>
                <a:cs typeface="Courier New" pitchFamily="34" charset="-120"/>
              </a:rPr>
              <a:t>posts job</a:t>
            </a:r>
            <a:endParaRPr lang="en-US" sz="1000" dirty="0"/>
          </a:p>
        </p:txBody>
      </p:sp>
      <p:sp>
        <p:nvSpPr>
          <p:cNvPr id="10" name="Shape 8"/>
          <p:cNvSpPr/>
          <p:nvPr/>
        </p:nvSpPr>
        <p:spPr>
          <a:xfrm>
            <a:off x="3429000" y="3657600"/>
            <a:ext cx="2468880" cy="1280160"/>
          </a:xfrm>
          <a:prstGeom prst="rect">
            <a:avLst/>
          </a:prstGeom>
          <a:solidFill>
            <a:srgbClr val="212326"/>
          </a:solidFill>
          <a:ln w="9525">
            <a:solidFill>
              <a:srgbClr val="3A3D41"/>
            </a:solidFill>
            <a:prstDash val="solid"/>
          </a:ln>
        </p:spPr>
      </p:sp>
      <p:sp>
        <p:nvSpPr>
          <p:cNvPr id="11" name="Text 9"/>
          <p:cNvSpPr txBox="1"/>
          <p:nvPr/>
        </p:nvSpPr>
        <p:spPr>
          <a:xfrm>
            <a:off x="3657600" y="3840480"/>
            <a:ext cx="2103120" cy="457200"/>
          </a:xfrm>
          <a:prstGeom prst="rect">
            <a:avLst/>
          </a:prstGeom>
          <a:noFill/>
          <a:ln/>
        </p:spPr>
        <p:txBody>
          <a:bodyPr wrap="square" lIns="0" tIns="0" rIns="0" bIns="0" rtlCol="0" anchor="ctr"/>
          <a:lstStyle/>
          <a:p>
            <a:pPr indent="0" marL="0">
              <a:buNone/>
            </a:pPr>
            <a:r>
              <a:rPr lang="en-US" sz="1700" b="1" dirty="0">
                <a:solidFill>
                  <a:srgbClr val="F2F1EC"/>
                </a:solidFill>
                <a:latin typeface="Cambria" pitchFamily="34" charset="0"/>
                <a:ea typeface="Cambria" pitchFamily="34" charset="-122"/>
                <a:cs typeface="Cambria" pitchFamily="34" charset="-120"/>
              </a:rPr>
              <a:t>Truck device</a:t>
            </a:r>
            <a:endParaRPr lang="en-US" sz="1700" dirty="0"/>
          </a:p>
        </p:txBody>
      </p:sp>
      <p:sp>
        <p:nvSpPr>
          <p:cNvPr id="12" name="Text 10"/>
          <p:cNvSpPr txBox="1"/>
          <p:nvPr/>
        </p:nvSpPr>
        <p:spPr>
          <a:xfrm>
            <a:off x="3657600" y="4343400"/>
            <a:ext cx="2103120" cy="365760"/>
          </a:xfrm>
          <a:prstGeom prst="rect">
            <a:avLst/>
          </a:prstGeom>
          <a:noFill/>
          <a:ln/>
        </p:spPr>
        <p:txBody>
          <a:bodyPr wrap="square" lIns="0" tIns="0" rIns="0" bIns="0" rtlCol="0" anchor="ctr"/>
          <a:lstStyle/>
          <a:p>
            <a:pPr indent="0" marL="0">
              <a:buNone/>
            </a:pPr>
            <a:r>
              <a:rPr lang="en-US" sz="1000" spc="150" kern="0" dirty="0">
                <a:solidFill>
                  <a:srgbClr val="9CC3CB"/>
                </a:solidFill>
                <a:latin typeface="Courier New" pitchFamily="34" charset="0"/>
                <a:ea typeface="Courier New" pitchFamily="34" charset="-122"/>
                <a:cs typeface="Courier New" pitchFamily="34" charset="-120"/>
              </a:rPr>
              <a:t>accepts</a:t>
            </a:r>
            <a:endParaRPr lang="en-US" sz="1000" dirty="0"/>
          </a:p>
        </p:txBody>
      </p:sp>
      <p:sp>
        <p:nvSpPr>
          <p:cNvPr id="13" name="Shape 11"/>
          <p:cNvSpPr/>
          <p:nvPr/>
        </p:nvSpPr>
        <p:spPr>
          <a:xfrm>
            <a:off x="6217920" y="3657600"/>
            <a:ext cx="2468880" cy="1280160"/>
          </a:xfrm>
          <a:prstGeom prst="rect">
            <a:avLst/>
          </a:prstGeom>
          <a:solidFill>
            <a:srgbClr val="212326"/>
          </a:solidFill>
          <a:ln w="9525">
            <a:solidFill>
              <a:srgbClr val="3A3D41"/>
            </a:solidFill>
            <a:prstDash val="solid"/>
          </a:ln>
        </p:spPr>
      </p:sp>
      <p:sp>
        <p:nvSpPr>
          <p:cNvPr id="14" name="Text 12"/>
          <p:cNvSpPr txBox="1"/>
          <p:nvPr/>
        </p:nvSpPr>
        <p:spPr>
          <a:xfrm>
            <a:off x="6446520" y="3840480"/>
            <a:ext cx="2103120" cy="457200"/>
          </a:xfrm>
          <a:prstGeom prst="rect">
            <a:avLst/>
          </a:prstGeom>
          <a:noFill/>
          <a:ln/>
        </p:spPr>
        <p:txBody>
          <a:bodyPr wrap="square" lIns="0" tIns="0" rIns="0" bIns="0" rtlCol="0" anchor="ctr"/>
          <a:lstStyle/>
          <a:p>
            <a:pPr indent="0" marL="0">
              <a:buNone/>
            </a:pPr>
            <a:r>
              <a:rPr lang="en-US" sz="1700" b="1" dirty="0">
                <a:solidFill>
                  <a:srgbClr val="F2F1EC"/>
                </a:solidFill>
                <a:latin typeface="Cambria" pitchFamily="34" charset="0"/>
                <a:ea typeface="Cambria" pitchFamily="34" charset="-122"/>
                <a:cs typeface="Cambria" pitchFamily="34" charset="-120"/>
              </a:rPr>
              <a:t>Gate + sensors</a:t>
            </a:r>
            <a:endParaRPr lang="en-US" sz="1700" dirty="0"/>
          </a:p>
        </p:txBody>
      </p:sp>
      <p:sp>
        <p:nvSpPr>
          <p:cNvPr id="15" name="Text 13"/>
          <p:cNvSpPr txBox="1"/>
          <p:nvPr/>
        </p:nvSpPr>
        <p:spPr>
          <a:xfrm>
            <a:off x="6446520" y="4343400"/>
            <a:ext cx="2103120" cy="365760"/>
          </a:xfrm>
          <a:prstGeom prst="rect">
            <a:avLst/>
          </a:prstGeom>
          <a:noFill/>
          <a:ln/>
        </p:spPr>
        <p:txBody>
          <a:bodyPr wrap="square" lIns="0" tIns="0" rIns="0" bIns="0" rtlCol="0" anchor="ctr"/>
          <a:lstStyle/>
          <a:p>
            <a:pPr indent="0" marL="0">
              <a:buNone/>
            </a:pPr>
            <a:r>
              <a:rPr lang="en-US" sz="1000" spc="150" kern="0" dirty="0">
                <a:solidFill>
                  <a:srgbClr val="9CC3CB"/>
                </a:solidFill>
                <a:latin typeface="Courier New" pitchFamily="34" charset="0"/>
                <a:ea typeface="Courier New" pitchFamily="34" charset="-122"/>
                <a:cs typeface="Courier New" pitchFamily="34" charset="-120"/>
              </a:rPr>
              <a:t>prove it</a:t>
            </a:r>
            <a:endParaRPr lang="en-US" sz="1000" dirty="0"/>
          </a:p>
        </p:txBody>
      </p:sp>
      <p:sp>
        <p:nvSpPr>
          <p:cNvPr id="16" name="Shape 14"/>
          <p:cNvSpPr/>
          <p:nvPr/>
        </p:nvSpPr>
        <p:spPr>
          <a:xfrm>
            <a:off x="9006840" y="3657600"/>
            <a:ext cx="2468880" cy="1280160"/>
          </a:xfrm>
          <a:prstGeom prst="rect">
            <a:avLst/>
          </a:prstGeom>
          <a:solidFill>
            <a:srgbClr val="212326"/>
          </a:solidFill>
          <a:ln w="9525">
            <a:solidFill>
              <a:srgbClr val="3A3D41"/>
            </a:solidFill>
            <a:prstDash val="solid"/>
          </a:ln>
        </p:spPr>
      </p:sp>
      <p:sp>
        <p:nvSpPr>
          <p:cNvPr id="17" name="Text 15"/>
          <p:cNvSpPr txBox="1"/>
          <p:nvPr/>
        </p:nvSpPr>
        <p:spPr>
          <a:xfrm>
            <a:off x="9235440" y="3840480"/>
            <a:ext cx="2103120" cy="457200"/>
          </a:xfrm>
          <a:prstGeom prst="rect">
            <a:avLst/>
          </a:prstGeom>
          <a:noFill/>
          <a:ln/>
        </p:spPr>
        <p:txBody>
          <a:bodyPr wrap="square" lIns="0" tIns="0" rIns="0" bIns="0" rtlCol="0" anchor="ctr"/>
          <a:lstStyle/>
          <a:p>
            <a:pPr indent="0" marL="0">
              <a:buNone/>
            </a:pPr>
            <a:r>
              <a:rPr lang="en-US" sz="1700" b="1" dirty="0">
                <a:solidFill>
                  <a:srgbClr val="F2F1EC"/>
                </a:solidFill>
                <a:latin typeface="Cambria" pitchFamily="34" charset="0"/>
                <a:ea typeface="Cambria" pitchFamily="34" charset="-122"/>
                <a:cs typeface="Cambria" pitchFamily="34" charset="-120"/>
              </a:rPr>
              <a:t>MST</a:t>
            </a:r>
            <a:endParaRPr lang="en-US" sz="1700" dirty="0"/>
          </a:p>
        </p:txBody>
      </p:sp>
      <p:sp>
        <p:nvSpPr>
          <p:cNvPr id="18" name="Text 16"/>
          <p:cNvSpPr txBox="1"/>
          <p:nvPr/>
        </p:nvSpPr>
        <p:spPr>
          <a:xfrm>
            <a:off x="9235440" y="4343400"/>
            <a:ext cx="2103120" cy="365760"/>
          </a:xfrm>
          <a:prstGeom prst="rect">
            <a:avLst/>
          </a:prstGeom>
          <a:noFill/>
          <a:ln/>
        </p:spPr>
        <p:txBody>
          <a:bodyPr wrap="square" lIns="0" tIns="0" rIns="0" bIns="0" rtlCol="0" anchor="ctr"/>
          <a:lstStyle/>
          <a:p>
            <a:pPr indent="0" marL="0">
              <a:buNone/>
            </a:pPr>
            <a:r>
              <a:rPr lang="en-US" sz="1000" spc="150" kern="0" dirty="0">
                <a:solidFill>
                  <a:srgbClr val="E08A63"/>
                </a:solidFill>
                <a:latin typeface="Courier New" pitchFamily="34" charset="0"/>
                <a:ea typeface="Courier New" pitchFamily="34" charset="-122"/>
                <a:cs typeface="Courier New" pitchFamily="34" charset="-120"/>
              </a:rPr>
              <a:t>pays truck</a:t>
            </a:r>
            <a:endParaRPr lang="en-US" sz="1000" dirty="0"/>
          </a:p>
        </p:txBody>
      </p:sp>
      <p:sp>
        <p:nvSpPr>
          <p:cNvPr id="19" name="Text 17"/>
          <p:cNvSpPr txBox="1"/>
          <p:nvPr/>
        </p:nvSpPr>
        <p:spPr>
          <a:xfrm>
            <a:off x="640080" y="5349240"/>
            <a:ext cx="10881360" cy="548640"/>
          </a:xfrm>
          <a:prstGeom prst="rect">
            <a:avLst/>
          </a:prstGeom>
          <a:noFill/>
          <a:ln/>
        </p:spPr>
        <p:txBody>
          <a:bodyPr wrap="square" lIns="0" tIns="0" rIns="0" bIns="0" rtlCol="0" anchor="ctr"/>
          <a:lstStyle/>
          <a:p>
            <a:pPr indent="0" marL="0">
              <a:buNone/>
            </a:pPr>
            <a:r>
              <a:rPr lang="en-US" sz="1500" i="1" dirty="0">
                <a:solidFill>
                  <a:srgbClr val="E08A63"/>
                </a:solidFill>
                <a:latin typeface="Cambria" pitchFamily="34" charset="0"/>
                <a:ea typeface="Cambria" pitchFamily="34" charset="-122"/>
                <a:cs typeface="Cambria" pitchFamily="34" charset="-120"/>
              </a:rPr>
              <a:t>Machine-to-machine settlement between devices owned by different companies is exactly where a shared ledger beats a database.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11 · ONE ENGINE, MANY SERVICES</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Anywhere work changes something a sensor can measure.</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12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881360" cy="914400"/>
        </p:xfrm>
        <a:graphic>
          <a:graphicData uri="http://schemas.openxmlformats.org/drawingml/2006/table">
            <a:tbl>
              <a:tblPr/>
              <a:tblGrid>
                <a:gridCol w="2377440"/>
                <a:gridCol w="2468880"/>
                <a:gridCol w="1828800"/>
                <a:gridCol w="2560320"/>
                <a:gridCol w="1645920"/>
              </a:tblGrid>
              <a:tr h="548640">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Service</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Who pays</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Who is paid</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Evidence</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c>
                  <a:txBody>
                    <a:bodyPr/>
                    <a:lstStyle/>
                    <a:p>
                      <a:pPr indent="0" marL="0">
                        <a:buNone/>
                      </a:pPr>
                      <a:r>
                        <a:rPr lang="en-US" sz="950" b="1" dirty="0">
                          <a:solidFill>
                            <a:srgbClr val="8A8883"/>
                          </a:solidFill>
                          <a:latin typeface="Courier New" pitchFamily="34" charset="0"/>
                          <a:ea typeface="Courier New" pitchFamily="34" charset="-122"/>
                          <a:cs typeface="Courier New" pitchFamily="34" charset="-120"/>
                        </a:rPr>
                        <a:t>Status</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7F6F1"/>
                    </a:solidFill>
                  </a:tcPr>
                </a:tc>
              </a:tr>
              <a:tr h="548640">
                <a:tc>
                  <a:txBody>
                    <a:bodyPr/>
                    <a:lstStyle/>
                    <a:p>
                      <a:pPr indent="0" marL="0">
                        <a:buNone/>
                      </a:pPr>
                      <a:r>
                        <a:rPr lang="en-US" sz="1250" b="1" dirty="0">
                          <a:solidFill>
                            <a:srgbClr val="1B1B1B"/>
                          </a:solidFill>
                          <a:latin typeface="Calibri" pitchFamily="34" charset="0"/>
                          <a:ea typeface="Calibri" pitchFamily="34" charset="-122"/>
                          <a:cs typeface="Calibri" pitchFamily="34" charset="-120"/>
                        </a:rPr>
                        <a:t>Commercial waste</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Tech parks, malls, hospitals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Haulers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Fill level, worker card</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2F7A4F"/>
                          </a:solidFill>
                          <a:latin typeface="Calibri" pitchFamily="34" charset="0"/>
                          <a:ea typeface="Calibri" pitchFamily="34" charset="-122"/>
                          <a:cs typeface="Calibri" pitchFamily="34" charset="-120"/>
                        </a:rPr>
                        <a:t>Built</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B1B1B"/>
                          </a:solidFill>
                          <a:latin typeface="Calibri" pitchFamily="34" charset="0"/>
                          <a:ea typeface="Calibri" pitchFamily="34" charset="-122"/>
                          <a:cs typeface="Calibri" pitchFamily="34" charset="-120"/>
                        </a:rPr>
                        <a:t>Water tanker delivery</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Apartments, sites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Tanker suppliers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Receiving-tank level rise</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3D6E78"/>
                          </a:solidFill>
                          <a:latin typeface="Calibri" pitchFamily="34" charset="0"/>
                          <a:ea typeface="Calibri" pitchFamily="34" charset="-122"/>
                          <a:cs typeface="Calibri" pitchFamily="34" charset="-120"/>
                        </a:rPr>
                        <a:t>Config profile</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B1B1B"/>
                          </a:solidFill>
                          <a:latin typeface="Calibri" pitchFamily="34" charset="0"/>
                          <a:ea typeface="Calibri" pitchFamily="34" charset="-122"/>
                          <a:cs typeface="Calibri" pitchFamily="34" charset="-120"/>
                        </a:rPr>
                        <a:t>Septic desilting</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Societies, hotels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Septic operators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Tank level before/after</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3D6E78"/>
                          </a:solidFill>
                          <a:latin typeface="Calibri" pitchFamily="34" charset="0"/>
                          <a:ea typeface="Calibri" pitchFamily="34" charset="-122"/>
                          <a:cs typeface="Calibri" pitchFamily="34" charset="-120"/>
                        </a:rPr>
                        <a:t>Config profile</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B1B1B"/>
                          </a:solidFill>
                          <a:latin typeface="Calibri" pitchFamily="34" charset="0"/>
                          <a:ea typeface="Calibri" pitchFamily="34" charset="-122"/>
                          <a:cs typeface="Calibri" pitchFamily="34" charset="-120"/>
                        </a:rPr>
                        <a:t>Used cooking oil</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Restaurants, canteens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Collectors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Container weight</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3D6E78"/>
                          </a:solidFill>
                          <a:latin typeface="Calibri" pitchFamily="34" charset="0"/>
                          <a:ea typeface="Calibri" pitchFamily="34" charset="-122"/>
                          <a:cs typeface="Calibri" pitchFamily="34" charset="-120"/>
                        </a:rPr>
                        <a:t>Needs load cell</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B1B1B"/>
                          </a:solidFill>
                          <a:latin typeface="Calibri" pitchFamily="34" charset="0"/>
                          <a:ea typeface="Calibri" pitchFamily="34" charset="-122"/>
                          <a:cs typeface="Calibri" pitchFamily="34" charset="-120"/>
                        </a:rPr>
                        <a:t>AI decision audit</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Banks, insurers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4A4A48"/>
                          </a:solidFill>
                          <a:latin typeface="Calibri" pitchFamily="34" charset="0"/>
                          <a:ea typeface="Calibri" pitchFamily="34" charset="-122"/>
                          <a:cs typeface="Calibri" pitchFamily="34" charset="-120"/>
                        </a:rPr>
                        <a:t>Reserved slots, receipts</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c>
                  <a:txBody>
                    <a:bodyPr/>
                    <a:lstStyle/>
                    <a:p>
                      <a:pPr indent="0" marL="0">
                        <a:buNone/>
                      </a:pPr>
                      <a:r>
                        <a:rPr lang="en-US" sz="1250" dirty="0">
                          <a:solidFill>
                            <a:srgbClr val="2F7A4F"/>
                          </a:solidFill>
                          <a:latin typeface="Calibri" pitchFamily="34" charset="0"/>
                          <a:ea typeface="Calibri" pitchFamily="34" charset="-122"/>
                          <a:cs typeface="Calibri" pitchFamily="34" charset="-120"/>
                        </a:rPr>
                        <a:t>Ghostless core</a:t>
                      </a:r>
                      <a:endParaRPr lang="en-US" sz="1250" dirty="0">
                        <a:latin typeface="Calibri" charset="0"/>
                        <a:ea typeface="Calibri" charset="0"/>
                        <a:cs typeface="Calibri" charset="0"/>
                      </a:endParaRPr>
                    </a:p>
                  </a:txBody>
                  <a:tcPr marL="109728" marR="109728" marT="36576" marB="36576" anchor="ctr">
                    <a:lnL w="6350" cap="flat" cmpd="sng" algn="ctr">
                      <a:solidFill>
                        <a:srgbClr val="D9D7CF"/>
                      </a:solidFill>
                      <a:prstDash val="solid"/>
                      <a:round/>
                      <a:headEnd type="none" w="med" len="med"/>
                      <a:tailEnd type="none" w="med" len="med"/>
                    </a:lnL>
                    <a:lnR w="6350" cap="flat" cmpd="sng" algn="ctr">
                      <a:solidFill>
                        <a:srgbClr val="D9D7CF"/>
                      </a:solidFill>
                      <a:prstDash val="solid"/>
                      <a:round/>
                      <a:headEnd type="none" w="med" len="med"/>
                      <a:tailEnd type="none" w="med" len="med"/>
                    </a:lnR>
                    <a:lnT w="6350" cap="flat" cmpd="sng" algn="ctr">
                      <a:solidFill>
                        <a:srgbClr val="D9D7CF"/>
                      </a:solidFill>
                      <a:prstDash val="solid"/>
                      <a:round/>
                      <a:headEnd type="none" w="med" len="med"/>
                      <a:tailEnd type="none" w="med" len="med"/>
                    </a:lnT>
                    <a:lnB w="6350" cap="flat" cmpd="sng" algn="ctr">
                      <a:solidFill>
                        <a:srgbClr val="D9D7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5669280"/>
            <a:ext cx="10881360" cy="548640"/>
          </a:xfrm>
          <a:prstGeom prst="rect">
            <a:avLst/>
          </a:prstGeom>
          <a:noFill/>
          <a:ln/>
        </p:spPr>
        <p:txBody>
          <a:bodyPr wrap="square" lIns="0" tIns="0" rIns="0" bIns="0" rtlCol="0" anchor="ctr"/>
          <a:lstStyle/>
          <a:p>
            <a:pPr indent="0" marL="0">
              <a:buNone/>
            </a:pPr>
            <a:r>
              <a:rPr lang="en-US" sz="1400" i="1" dirty="0">
                <a:solidFill>
                  <a:srgbClr val="1B1B1B"/>
                </a:solidFill>
                <a:latin typeface="Cambria" pitchFamily="34" charset="0"/>
                <a:ea typeface="Cambria" pitchFamily="34" charset="-122"/>
                <a:cs typeface="Cambria" pitchFamily="34" charset="-120"/>
              </a:rPr>
              <a:t>Three tests for every new vertical: a sensor measures the outcome · one company pays another and can't verify the work · the job repeats.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12 · SCALING IN BENGALURU</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Don't put a computer in every bin. Put the proof where the money is.</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13</a:t>
            </a:r>
            <a:endParaRPr lang="en-US" sz="800" dirty="0"/>
          </a:p>
        </p:txBody>
      </p:sp>
      <p:sp>
        <p:nvSpPr>
          <p:cNvPr id="6" name="Shape 4"/>
          <p:cNvSpPr/>
          <p:nvPr/>
        </p:nvSpPr>
        <p:spPr>
          <a:xfrm>
            <a:off x="640080" y="2011680"/>
            <a:ext cx="3383280" cy="0"/>
          </a:xfrm>
          <a:prstGeom prst="line">
            <a:avLst/>
          </a:prstGeom>
          <a:noFill/>
          <a:ln w="22225">
            <a:solidFill>
              <a:srgbClr val="1B1B1B"/>
            </a:solidFill>
            <a:prstDash val="solid"/>
          </a:ln>
        </p:spPr>
      </p:sp>
      <p:sp>
        <p:nvSpPr>
          <p:cNvPr id="7" name="Text 5"/>
          <p:cNvSpPr txBox="1"/>
          <p:nvPr/>
        </p:nvSpPr>
        <p:spPr>
          <a:xfrm>
            <a:off x="640080" y="2121408"/>
            <a:ext cx="3383280" cy="36576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Start with bulk generators</a:t>
            </a:r>
            <a:endParaRPr lang="en-US" sz="1700" dirty="0"/>
          </a:p>
        </p:txBody>
      </p:sp>
      <p:sp>
        <p:nvSpPr>
          <p:cNvPr id="8" name="Text 6"/>
          <p:cNvSpPr txBox="1"/>
          <p:nvPr/>
        </p:nvSpPr>
        <p:spPr>
          <a:xfrm>
            <a:off x="640080" y="2487168"/>
            <a:ext cx="3383280" cy="1188720"/>
          </a:xfrm>
          <a:prstGeom prst="rect">
            <a:avLst/>
          </a:prstGeom>
          <a:noFill/>
          <a:ln/>
        </p:spPr>
        <p:txBody>
          <a:bodyPr wrap="square" lIns="0" tIns="0" rIns="0" bIns="0" rtlCol="0" anchor="t"/>
          <a:lstStyle/>
          <a:p>
            <a:pPr indent="0" marL="0">
              <a:buNone/>
            </a:pPr>
            <a:r>
              <a:rPr lang="en-US" sz="1300" dirty="0">
                <a:solidFill>
                  <a:srgbClr val="4A4A48"/>
                </a:solidFill>
                <a:latin typeface="Calibri" pitchFamily="34" charset="0"/>
                <a:ea typeface="Calibri" pitchFamily="34" charset="-122"/>
                <a:cs typeface="Calibri" pitchFamily="34" charset="-120"/>
              </a:rPr>
              <a:t>Tech parks, campuses, hospitals and apartments: few bins, large bills, and a legal duty to use authorised handlers.</a:t>
            </a:r>
            <a:endParaRPr lang="en-US" sz="1300" dirty="0"/>
          </a:p>
        </p:txBody>
      </p:sp>
      <p:sp>
        <p:nvSpPr>
          <p:cNvPr id="9" name="Shape 7"/>
          <p:cNvSpPr/>
          <p:nvPr/>
        </p:nvSpPr>
        <p:spPr>
          <a:xfrm>
            <a:off x="4389120" y="2011680"/>
            <a:ext cx="3383280" cy="0"/>
          </a:xfrm>
          <a:prstGeom prst="line">
            <a:avLst/>
          </a:prstGeom>
          <a:noFill/>
          <a:ln w="22225">
            <a:solidFill>
              <a:srgbClr val="1B1B1B"/>
            </a:solidFill>
            <a:prstDash val="solid"/>
          </a:ln>
        </p:spPr>
      </p:sp>
      <p:sp>
        <p:nvSpPr>
          <p:cNvPr id="10" name="Text 8"/>
          <p:cNvSpPr txBox="1"/>
          <p:nvPr/>
        </p:nvSpPr>
        <p:spPr>
          <a:xfrm>
            <a:off x="4389120" y="2121408"/>
            <a:ext cx="3383280" cy="36576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Sensor on the truck</a:t>
            </a:r>
            <a:endParaRPr lang="en-US" sz="1700" dirty="0"/>
          </a:p>
        </p:txBody>
      </p:sp>
      <p:sp>
        <p:nvSpPr>
          <p:cNvPr id="11" name="Text 9"/>
          <p:cNvSpPr txBox="1"/>
          <p:nvPr/>
        </p:nvSpPr>
        <p:spPr>
          <a:xfrm>
            <a:off x="4389120" y="2487168"/>
            <a:ext cx="3383280" cy="1188720"/>
          </a:xfrm>
          <a:prstGeom prst="rect">
            <a:avLst/>
          </a:prstGeom>
          <a:noFill/>
          <a:ln/>
        </p:spPr>
        <p:txBody>
          <a:bodyPr wrap="square" lIns="0" tIns="0" rIns="0" bIns="0" rtlCol="0" anchor="t"/>
          <a:lstStyle/>
          <a:p>
            <a:pPr indent="0" marL="0">
              <a:buNone/>
            </a:pPr>
            <a:r>
              <a:rPr lang="en-US" sz="1300" dirty="0">
                <a:solidFill>
                  <a:srgbClr val="4A4A48"/>
                </a:solidFill>
                <a:latin typeface="Calibri" pitchFamily="34" charset="0"/>
                <a:ea typeface="Calibri" pitchFamily="34" charset="-122"/>
                <a:cs typeface="Calibri" pitchFamily="34" charset="-120"/>
              </a:rPr>
              <a:t>One load cell on a truck's lift plus a tag per bin covers hundreds of bins. Retrofit clip-on pods only where fill level matters.</a:t>
            </a:r>
            <a:endParaRPr lang="en-US" sz="1300" dirty="0"/>
          </a:p>
        </p:txBody>
      </p:sp>
      <p:sp>
        <p:nvSpPr>
          <p:cNvPr id="12" name="Shape 10"/>
          <p:cNvSpPr/>
          <p:nvPr/>
        </p:nvSpPr>
        <p:spPr>
          <a:xfrm>
            <a:off x="8138160" y="2011680"/>
            <a:ext cx="3383280" cy="0"/>
          </a:xfrm>
          <a:prstGeom prst="line">
            <a:avLst/>
          </a:prstGeom>
          <a:noFill/>
          <a:ln w="22225">
            <a:solidFill>
              <a:srgbClr val="1B1B1B"/>
            </a:solidFill>
            <a:prstDash val="solid"/>
          </a:ln>
        </p:spPr>
      </p:sp>
      <p:sp>
        <p:nvSpPr>
          <p:cNvPr id="13" name="Text 11"/>
          <p:cNvSpPr txBox="1"/>
          <p:nvPr/>
        </p:nvSpPr>
        <p:spPr>
          <a:xfrm>
            <a:off x="8138160" y="2121408"/>
            <a:ext cx="3383280" cy="36576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Sell through others</a:t>
            </a:r>
            <a:endParaRPr lang="en-US" sz="1700" dirty="0"/>
          </a:p>
        </p:txBody>
      </p:sp>
      <p:sp>
        <p:nvSpPr>
          <p:cNvPr id="14" name="Text 12"/>
          <p:cNvSpPr txBox="1"/>
          <p:nvPr/>
        </p:nvSpPr>
        <p:spPr>
          <a:xfrm>
            <a:off x="8138160" y="2487168"/>
            <a:ext cx="3383280" cy="1188720"/>
          </a:xfrm>
          <a:prstGeom prst="rect">
            <a:avLst/>
          </a:prstGeom>
          <a:noFill/>
          <a:ln/>
        </p:spPr>
        <p:txBody>
          <a:bodyPr wrap="square" lIns="0" tIns="0" rIns="0" bIns="0" rtlCol="0" anchor="t"/>
          <a:lstStyle/>
          <a:p>
            <a:pPr indent="0" marL="0">
              <a:buNone/>
            </a:pPr>
            <a:r>
              <a:rPr lang="en-US" sz="1300" dirty="0">
                <a:solidFill>
                  <a:srgbClr val="4A4A48"/>
                </a:solidFill>
                <a:latin typeface="Calibri" pitchFamily="34" charset="0"/>
                <a:ea typeface="Calibri" pitchFamily="34" charset="-122"/>
                <a:cs typeface="Calibri" pitchFamily="34" charset="-120"/>
              </a:rPr>
              <a:t>Bin makers pre-fit the pod; haulers adopt it to get paid faster; municipalities write it into tenders.</a:t>
            </a:r>
            <a:endParaRPr lang="en-US" sz="1300" dirty="0"/>
          </a:p>
        </p:txBody>
      </p:sp>
      <p:sp>
        <p:nvSpPr>
          <p:cNvPr id="15" name="Text 13"/>
          <p:cNvSpPr txBox="1"/>
          <p:nvPr/>
        </p:nvSpPr>
        <p:spPr>
          <a:xfrm>
            <a:off x="640080" y="3931920"/>
            <a:ext cx="4572000" cy="274320"/>
          </a:xfrm>
          <a:prstGeom prst="rect">
            <a:avLst/>
          </a:prstGeom>
          <a:noFill/>
          <a:ln/>
        </p:spPr>
        <p:txBody>
          <a:bodyPr wrap="square" lIns="0" tIns="0" rIns="0" bIns="0" rtlCol="0" anchor="ctr"/>
          <a:lstStyle/>
          <a:p>
            <a:pPr indent="0" marL="0">
              <a:buNone/>
            </a:pPr>
            <a:r>
              <a:rPr lang="en-US" sz="1000" spc="200" kern="0" dirty="0">
                <a:solidFill>
                  <a:srgbClr val="3D6E78"/>
                </a:solidFill>
                <a:latin typeface="Courier New" pitchFamily="34" charset="0"/>
                <a:ea typeface="Courier New" pitchFamily="34" charset="-122"/>
                <a:cs typeface="Courier New" pitchFamily="34" charset="-120"/>
              </a:rPr>
              <a:t>BUSINESS MODEL</a:t>
            </a:r>
            <a:endParaRPr lang="en-US" sz="1000" dirty="0"/>
          </a:p>
        </p:txBody>
      </p:sp>
      <p:sp>
        <p:nvSpPr>
          <p:cNvPr id="16" name="Shape 14"/>
          <p:cNvSpPr/>
          <p:nvPr/>
        </p:nvSpPr>
        <p:spPr>
          <a:xfrm>
            <a:off x="640080" y="4343400"/>
            <a:ext cx="2560320" cy="1463040"/>
          </a:xfrm>
          <a:prstGeom prst="rect">
            <a:avLst/>
          </a:prstGeom>
          <a:solidFill>
            <a:srgbClr val="FFFFFF"/>
          </a:solidFill>
          <a:ln w="9525">
            <a:solidFill>
              <a:srgbClr val="D9D7CF"/>
            </a:solidFill>
            <a:prstDash val="solid"/>
          </a:ln>
        </p:spPr>
      </p:sp>
      <p:sp>
        <p:nvSpPr>
          <p:cNvPr id="17" name="Text 15"/>
          <p:cNvSpPr txBox="1"/>
          <p:nvPr/>
        </p:nvSpPr>
        <p:spPr>
          <a:xfrm>
            <a:off x="868680" y="4526280"/>
            <a:ext cx="2194560" cy="41148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Per device</a:t>
            </a:r>
            <a:endParaRPr lang="en-US" sz="1600" dirty="0"/>
          </a:p>
        </p:txBody>
      </p:sp>
      <p:sp>
        <p:nvSpPr>
          <p:cNvPr id="18" name="Text 16"/>
          <p:cNvSpPr txBox="1"/>
          <p:nvPr/>
        </p:nvSpPr>
        <p:spPr>
          <a:xfrm>
            <a:off x="868680" y="4983480"/>
            <a:ext cx="2148840" cy="73152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Hardware pod + monthly monitoring</a:t>
            </a:r>
            <a:endParaRPr lang="en-US" sz="1200" dirty="0"/>
          </a:p>
        </p:txBody>
      </p:sp>
      <p:sp>
        <p:nvSpPr>
          <p:cNvPr id="19" name="Shape 17"/>
          <p:cNvSpPr/>
          <p:nvPr/>
        </p:nvSpPr>
        <p:spPr>
          <a:xfrm>
            <a:off x="3383280" y="4343400"/>
            <a:ext cx="2560320" cy="1463040"/>
          </a:xfrm>
          <a:prstGeom prst="rect">
            <a:avLst/>
          </a:prstGeom>
          <a:solidFill>
            <a:srgbClr val="FFFFFF"/>
          </a:solidFill>
          <a:ln w="9525">
            <a:solidFill>
              <a:srgbClr val="D9D7CF"/>
            </a:solidFill>
            <a:prstDash val="solid"/>
          </a:ln>
        </p:spPr>
      </p:sp>
      <p:sp>
        <p:nvSpPr>
          <p:cNvPr id="20" name="Text 18"/>
          <p:cNvSpPr txBox="1"/>
          <p:nvPr/>
        </p:nvSpPr>
        <p:spPr>
          <a:xfrm>
            <a:off x="3611880" y="4526280"/>
            <a:ext cx="2194560" cy="41148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Per settlement</a:t>
            </a:r>
            <a:endParaRPr lang="en-US" sz="1600" dirty="0"/>
          </a:p>
        </p:txBody>
      </p:sp>
      <p:sp>
        <p:nvSpPr>
          <p:cNvPr id="21" name="Text 19"/>
          <p:cNvSpPr txBox="1"/>
          <p:nvPr/>
        </p:nvSpPr>
        <p:spPr>
          <a:xfrm>
            <a:off x="3611880" y="4983480"/>
            <a:ext cx="2148840" cy="73152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Small fee on each verified payout</a:t>
            </a:r>
            <a:endParaRPr lang="en-US" sz="1200" dirty="0"/>
          </a:p>
        </p:txBody>
      </p:sp>
      <p:sp>
        <p:nvSpPr>
          <p:cNvPr id="22" name="Shape 20"/>
          <p:cNvSpPr/>
          <p:nvPr/>
        </p:nvSpPr>
        <p:spPr>
          <a:xfrm>
            <a:off x="6126480" y="4343400"/>
            <a:ext cx="2560320" cy="1463040"/>
          </a:xfrm>
          <a:prstGeom prst="rect">
            <a:avLst/>
          </a:prstGeom>
          <a:solidFill>
            <a:srgbClr val="FFFFFF"/>
          </a:solidFill>
          <a:ln w="9525">
            <a:solidFill>
              <a:srgbClr val="D9D7CF"/>
            </a:solidFill>
            <a:prstDash val="solid"/>
          </a:ln>
        </p:spPr>
      </p:sp>
      <p:sp>
        <p:nvSpPr>
          <p:cNvPr id="23" name="Text 21"/>
          <p:cNvSpPr txBox="1"/>
          <p:nvPr/>
        </p:nvSpPr>
        <p:spPr>
          <a:xfrm>
            <a:off x="6355080" y="4526280"/>
            <a:ext cx="2194560" cy="41148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Per auditor</a:t>
            </a:r>
            <a:endParaRPr lang="en-US" sz="1600" dirty="0"/>
          </a:p>
        </p:txBody>
      </p:sp>
      <p:sp>
        <p:nvSpPr>
          <p:cNvPr id="24" name="Text 22"/>
          <p:cNvSpPr txBox="1"/>
          <p:nvPr/>
        </p:nvSpPr>
        <p:spPr>
          <a:xfrm>
            <a:off x="6355080" y="4983480"/>
            <a:ext cx="2148840" cy="73152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Watcher nodes for regulators and ESG auditors</a:t>
            </a:r>
            <a:endParaRPr lang="en-US" sz="1200" dirty="0"/>
          </a:p>
        </p:txBody>
      </p:sp>
      <p:sp>
        <p:nvSpPr>
          <p:cNvPr id="25" name="Shape 23"/>
          <p:cNvSpPr/>
          <p:nvPr/>
        </p:nvSpPr>
        <p:spPr>
          <a:xfrm>
            <a:off x="8869680" y="4343400"/>
            <a:ext cx="2560320" cy="1463040"/>
          </a:xfrm>
          <a:prstGeom prst="rect">
            <a:avLst/>
          </a:prstGeom>
          <a:solidFill>
            <a:srgbClr val="FFFFFF"/>
          </a:solidFill>
          <a:ln w="9525">
            <a:solidFill>
              <a:srgbClr val="D9D7CF"/>
            </a:solidFill>
            <a:prstDash val="solid"/>
          </a:ln>
        </p:spPr>
      </p:sp>
      <p:sp>
        <p:nvSpPr>
          <p:cNvPr id="26" name="Text 24"/>
          <p:cNvSpPr txBox="1"/>
          <p:nvPr/>
        </p:nvSpPr>
        <p:spPr>
          <a:xfrm>
            <a:off x="9098280" y="4526280"/>
            <a:ext cx="2194560" cy="411480"/>
          </a:xfrm>
          <a:prstGeom prst="rect">
            <a:avLst/>
          </a:prstGeom>
          <a:noFill/>
          <a:ln/>
        </p:spPr>
        <p:txBody>
          <a:bodyPr wrap="square" lIns="0" tIns="0" rIns="0" bIns="0" rtlCol="0" anchor="ctr"/>
          <a:lstStyle/>
          <a:p>
            <a:pPr indent="0" marL="0">
              <a:buNone/>
            </a:pPr>
            <a:r>
              <a:rPr lang="en-US" sz="1600" b="1" dirty="0">
                <a:solidFill>
                  <a:srgbClr val="1B1B1B"/>
                </a:solidFill>
                <a:latin typeface="Cambria" pitchFamily="34" charset="0"/>
                <a:ea typeface="Cambria" pitchFamily="34" charset="-122"/>
                <a:cs typeface="Cambria" pitchFamily="34" charset="-120"/>
              </a:rPr>
              <a:t>Per gate</a:t>
            </a:r>
            <a:endParaRPr lang="en-US" sz="1600" dirty="0"/>
          </a:p>
        </p:txBody>
      </p:sp>
      <p:sp>
        <p:nvSpPr>
          <p:cNvPr id="27" name="Text 25"/>
          <p:cNvSpPr txBox="1"/>
          <p:nvPr/>
        </p:nvSpPr>
        <p:spPr>
          <a:xfrm>
            <a:off x="9098280" y="4983480"/>
            <a:ext cx="2148840" cy="731520"/>
          </a:xfrm>
          <a:prstGeom prst="rect">
            <a:avLst/>
          </a:prstGeom>
          <a:noFill/>
          <a:ln/>
        </p:spPr>
        <p:txBody>
          <a:bodyPr wrap="square" lIns="0" tIns="0" rIns="0" bIns="0" rtlCol="0" anchor="t"/>
          <a:lstStyle/>
          <a:p>
            <a:pPr indent="0" marL="0">
              <a:buNone/>
            </a:pPr>
            <a:r>
              <a:rPr lang="en-US" sz="1200" dirty="0">
                <a:solidFill>
                  <a:srgbClr val="4A4A48"/>
                </a:solidFill>
                <a:latin typeface="Calibri" pitchFamily="34" charset="0"/>
                <a:ea typeface="Calibri" pitchFamily="34" charset="-122"/>
                <a:cs typeface="Calibri" pitchFamily="34" charset="-120"/>
              </a:rPr>
              <a:t>Actuator Gate SDK licences for other machines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3D6E78"/>
                </a:solidFill>
                <a:latin typeface="Courier New" pitchFamily="34" charset="0"/>
                <a:ea typeface="Courier New" pitchFamily="34" charset="-122"/>
                <a:cs typeface="Courier New" pitchFamily="34" charset="-120"/>
              </a:rPr>
              <a:t>13 · WHERE WE ARE</a:t>
            </a:r>
            <a:endParaRPr lang="en-US" sz="1000" dirty="0"/>
          </a:p>
        </p:txBody>
      </p:sp>
      <p:sp>
        <p:nvSpPr>
          <p:cNvPr id="3" name="Text 1"/>
          <p:cNvSpPr txBox="1"/>
          <p:nvPr/>
        </p:nvSpPr>
        <p:spPr>
          <a:xfrm>
            <a:off x="640080" y="731520"/>
            <a:ext cx="10881360" cy="1143000"/>
          </a:xfrm>
          <a:prstGeom prst="rect">
            <a:avLst/>
          </a:prstGeom>
          <a:noFill/>
          <a:ln/>
        </p:spPr>
        <p:txBody>
          <a:bodyPr wrap="square" lIns="0" tIns="0" rIns="0" bIns="0" rtlCol="0" anchor="t"/>
          <a:lstStyle/>
          <a:p>
            <a:pPr indent="0" marL="0">
              <a:buNone/>
            </a:pPr>
            <a:r>
              <a:rPr lang="en-US" sz="3200" b="1" dirty="0">
                <a:solidFill>
                  <a:srgbClr val="1B1B1B"/>
                </a:solidFill>
                <a:latin typeface="Cambria" pitchFamily="34" charset="0"/>
                <a:ea typeface="Cambria" pitchFamily="34" charset="-122"/>
                <a:cs typeface="Cambria" pitchFamily="34" charset="-120"/>
              </a:rPr>
              <a:t>Working today. Here's what the grant buys.</a:t>
            </a:r>
            <a:endParaRPr lang="en-US" sz="3200" dirty="0"/>
          </a:p>
        </p:txBody>
      </p:sp>
      <p:sp>
        <p:nvSpPr>
          <p:cNvPr id="4" name="Text 2"/>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8A8883"/>
                </a:solidFill>
                <a:latin typeface="Courier New" pitchFamily="34" charset="0"/>
                <a:ea typeface="Courier New" pitchFamily="34" charset="-122"/>
                <a:cs typeface="Courier New" pitchFamily="34" charset="-120"/>
              </a:rPr>
              <a:t>GHOSTLESS  ·  MST BLOCKCHAIN</a:t>
            </a:r>
            <a:endParaRPr lang="en-US" sz="800" dirty="0"/>
          </a:p>
        </p:txBody>
      </p:sp>
      <p:sp>
        <p:nvSpPr>
          <p:cNvPr id="5" name="Text 3"/>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8A8883"/>
                </a:solidFill>
                <a:latin typeface="Courier New" pitchFamily="34" charset="0"/>
                <a:ea typeface="Courier New" pitchFamily="34" charset="-122"/>
                <a:cs typeface="Courier New" pitchFamily="34" charset="-120"/>
              </a:rPr>
              <a:t>14</a:t>
            </a:r>
            <a:endParaRPr lang="en-US" sz="800" dirty="0"/>
          </a:p>
        </p:txBody>
      </p:sp>
      <p:sp>
        <p:nvSpPr>
          <p:cNvPr id="6" name="Shape 4"/>
          <p:cNvSpPr/>
          <p:nvPr/>
        </p:nvSpPr>
        <p:spPr>
          <a:xfrm>
            <a:off x="640080" y="1920240"/>
            <a:ext cx="5303520" cy="0"/>
          </a:xfrm>
          <a:prstGeom prst="line">
            <a:avLst/>
          </a:prstGeom>
          <a:noFill/>
          <a:ln w="22225">
            <a:solidFill>
              <a:srgbClr val="1B1B1B"/>
            </a:solidFill>
            <a:prstDash val="solid"/>
          </a:ln>
        </p:spPr>
      </p:sp>
      <p:sp>
        <p:nvSpPr>
          <p:cNvPr id="7" name="Text 5"/>
          <p:cNvSpPr txBox="1"/>
          <p:nvPr/>
        </p:nvSpPr>
        <p:spPr>
          <a:xfrm>
            <a:off x="640080" y="2057400"/>
            <a:ext cx="5303520" cy="274320"/>
          </a:xfrm>
          <a:prstGeom prst="rect">
            <a:avLst/>
          </a:prstGeom>
          <a:noFill/>
          <a:ln/>
        </p:spPr>
        <p:txBody>
          <a:bodyPr wrap="square" lIns="0" tIns="0" rIns="0" bIns="0" rtlCol="0" anchor="ctr"/>
          <a:lstStyle/>
          <a:p>
            <a:pPr indent="0" marL="0">
              <a:buNone/>
            </a:pPr>
            <a:r>
              <a:rPr lang="en-US" sz="1000" b="1" spc="200" kern="0" dirty="0">
                <a:solidFill>
                  <a:srgbClr val="2F7A4F"/>
                </a:solidFill>
                <a:latin typeface="Courier New" pitchFamily="34" charset="0"/>
                <a:ea typeface="Courier New" pitchFamily="34" charset="-122"/>
                <a:cs typeface="Courier New" pitchFamily="34" charset="-120"/>
              </a:rPr>
              <a:t>BUILT</a:t>
            </a:r>
            <a:endParaRPr lang="en-US" sz="1000" dirty="0"/>
          </a:p>
        </p:txBody>
      </p:sp>
      <p:sp>
        <p:nvSpPr>
          <p:cNvPr id="8" name="Text 6"/>
          <p:cNvSpPr txBox="1"/>
          <p:nvPr/>
        </p:nvSpPr>
        <p:spPr>
          <a:xfrm>
            <a:off x="640080" y="2468880"/>
            <a:ext cx="530352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Ledger contracts with device + AI signatures, escrow, pay-once release (20 tests)</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Ghostless ledger: reserved windows, bonded challenges, slashing; live on MST Testnet</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Sensor-fusion AI with explainable checks</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Dashboard, worker app, live map (Bengaluru)</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Red-team harness: 10 attack scenarios</a:t>
            </a:r>
            <a:endParaRPr lang="en-US" sz="1400" dirty="0"/>
          </a:p>
        </p:txBody>
      </p:sp>
      <p:sp>
        <p:nvSpPr>
          <p:cNvPr id="9" name="Shape 7"/>
          <p:cNvSpPr/>
          <p:nvPr/>
        </p:nvSpPr>
        <p:spPr>
          <a:xfrm>
            <a:off x="6217920" y="1920240"/>
            <a:ext cx="5303520" cy="0"/>
          </a:xfrm>
          <a:prstGeom prst="line">
            <a:avLst/>
          </a:prstGeom>
          <a:noFill/>
          <a:ln w="22225">
            <a:solidFill>
              <a:srgbClr val="1B1B1B"/>
            </a:solidFill>
            <a:prstDash val="solid"/>
          </a:ln>
        </p:spPr>
      </p:sp>
      <p:sp>
        <p:nvSpPr>
          <p:cNvPr id="10" name="Text 8"/>
          <p:cNvSpPr txBox="1"/>
          <p:nvPr/>
        </p:nvSpPr>
        <p:spPr>
          <a:xfrm>
            <a:off x="6217920" y="2057400"/>
            <a:ext cx="5303520" cy="274320"/>
          </a:xfrm>
          <a:prstGeom prst="rect">
            <a:avLst/>
          </a:prstGeom>
          <a:noFill/>
          <a:ln/>
        </p:spPr>
        <p:txBody>
          <a:bodyPr wrap="square" lIns="0" tIns="0" rIns="0" bIns="0" rtlCol="0" anchor="ctr"/>
          <a:lstStyle/>
          <a:p>
            <a:pPr indent="0" marL="0">
              <a:buNone/>
            </a:pPr>
            <a:r>
              <a:rPr lang="en-US" sz="1000" b="1" spc="200" kern="0" dirty="0">
                <a:solidFill>
                  <a:srgbClr val="B5532E"/>
                </a:solidFill>
                <a:latin typeface="Courier New" pitchFamily="34" charset="0"/>
                <a:ea typeface="Courier New" pitchFamily="34" charset="-122"/>
                <a:cs typeface="Courier New" pitchFamily="34" charset="-120"/>
              </a:rPr>
              <a:t>NEXT 90 DAYS</a:t>
            </a:r>
            <a:endParaRPr lang="en-US" sz="1000" dirty="0"/>
          </a:p>
        </p:txBody>
      </p:sp>
      <p:sp>
        <p:nvSpPr>
          <p:cNvPr id="11" name="Text 9"/>
          <p:cNvSpPr txBox="1"/>
          <p:nvPr/>
        </p:nvSpPr>
        <p:spPr>
          <a:xfrm>
            <a:off x="6217920" y="2468880"/>
            <a:ext cx="530352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Signing key on the ESP32 itself</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Machine-to-machine mode: bin pays truck</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Truck load cell for per-kg billing</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Water-tanker profile on the same engine</a:t>
            </a:r>
            <a:endParaRPr lang="en-US" sz="1400" dirty="0"/>
          </a:p>
          <a:p>
            <a:pPr marL="342900" indent="-342900">
              <a:spcAft>
                <a:spcPts val="800"/>
              </a:spcAft>
              <a:buSzPct val="100000"/>
              <a:buChar char="•"/>
            </a:pPr>
            <a:r>
              <a:rPr lang="en-US" sz="1400" dirty="0">
                <a:solidFill>
                  <a:srgbClr val="4A4A48"/>
                </a:solidFill>
                <a:latin typeface="Calibri" pitchFamily="34" charset="0"/>
                <a:ea typeface="Calibri" pitchFamily="34" charset="-122"/>
                <a:cs typeface="Calibri" pitchFamily="34" charset="-120"/>
              </a:rPr>
              <a:t>50-bin pilot on one Bengaluru campus, 3 months</a:t>
            </a:r>
            <a:endParaRPr lang="en-US" sz="1400" dirty="0"/>
          </a:p>
        </p:txBody>
      </p:sp>
      <p:sp>
        <p:nvSpPr>
          <p:cNvPr id="12" name="Text 10"/>
          <p:cNvSpPr txBox="1"/>
          <p:nvPr/>
        </p:nvSpPr>
        <p:spPr>
          <a:xfrm>
            <a:off x="640080" y="5760720"/>
            <a:ext cx="10881360" cy="411480"/>
          </a:xfrm>
          <a:prstGeom prst="rect">
            <a:avLst/>
          </a:prstGeom>
          <a:noFill/>
          <a:ln/>
        </p:spPr>
        <p:txBody>
          <a:bodyPr wrap="square" lIns="0" tIns="0" rIns="0" bIns="0" rtlCol="0" anchor="ctr"/>
          <a:lstStyle/>
          <a:p>
            <a:pPr indent="0" marL="0">
              <a:buNone/>
            </a:pPr>
            <a:r>
              <a:rPr lang="en-US" sz="1400" i="1" dirty="0">
                <a:solidFill>
                  <a:srgbClr val="1B1B1B"/>
                </a:solidFill>
                <a:latin typeface="Cambria" pitchFamily="34" charset="0"/>
                <a:ea typeface="Cambria" pitchFamily="34" charset="-122"/>
                <a:cs typeface="Cambria" pitchFamily="34" charset="-120"/>
              </a:rPr>
              <a:t>Success metric for the pilot: share of billed pickups that could not be verified, before vs after.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618"/>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ctr"/>
          <a:lstStyle/>
          <a:p>
            <a:pPr indent="0" marL="0">
              <a:buNone/>
            </a:pPr>
            <a:r>
              <a:rPr lang="en-US" sz="1000" spc="300" kern="0" dirty="0">
                <a:solidFill>
                  <a:srgbClr val="9CC3CB"/>
                </a:solidFill>
                <a:latin typeface="Courier New" pitchFamily="34" charset="0"/>
                <a:ea typeface="Courier New" pitchFamily="34" charset="-122"/>
                <a:cs typeface="Courier New" pitchFamily="34" charset="-120"/>
              </a:rPr>
              <a:t>GHOSTLESS</a:t>
            </a:r>
            <a:endParaRPr lang="en-US" sz="1000" dirty="0"/>
          </a:p>
        </p:txBody>
      </p:sp>
      <p:sp>
        <p:nvSpPr>
          <p:cNvPr id="3" name="Text 1"/>
          <p:cNvSpPr txBox="1"/>
          <p:nvPr/>
        </p:nvSpPr>
        <p:spPr>
          <a:xfrm>
            <a:off x="640080" y="6400800"/>
            <a:ext cx="5486400" cy="228600"/>
          </a:xfrm>
          <a:prstGeom prst="rect">
            <a:avLst/>
          </a:prstGeom>
          <a:noFill/>
          <a:ln/>
        </p:spPr>
        <p:txBody>
          <a:bodyPr wrap="square" lIns="0" tIns="0" rIns="0" bIns="0" rtlCol="0" anchor="ctr"/>
          <a:lstStyle/>
          <a:p>
            <a:pPr indent="0" marL="0">
              <a:buNone/>
            </a:pPr>
            <a:r>
              <a:rPr lang="en-US" sz="800" spc="200" kern="0" dirty="0">
                <a:solidFill>
                  <a:srgbClr val="6F7375"/>
                </a:solidFill>
                <a:latin typeface="Courier New" pitchFamily="34" charset="0"/>
                <a:ea typeface="Courier New" pitchFamily="34" charset="-122"/>
                <a:cs typeface="Courier New" pitchFamily="34" charset="-120"/>
              </a:rPr>
              <a:t>GHOSTLESS  ·  MST BLOCKCHAIN</a:t>
            </a:r>
            <a:endParaRPr lang="en-US" sz="800" dirty="0"/>
          </a:p>
        </p:txBody>
      </p:sp>
      <p:sp>
        <p:nvSpPr>
          <p:cNvPr id="4" name="Text 2"/>
          <p:cNvSpPr txBox="1"/>
          <p:nvPr/>
        </p:nvSpPr>
        <p:spPr>
          <a:xfrm>
            <a:off x="11094415" y="6400800"/>
            <a:ext cx="457200" cy="228600"/>
          </a:xfrm>
          <a:prstGeom prst="rect">
            <a:avLst/>
          </a:prstGeom>
          <a:noFill/>
          <a:ln/>
        </p:spPr>
        <p:txBody>
          <a:bodyPr wrap="square" lIns="0" tIns="0" rIns="0" bIns="0" rtlCol="0" anchor="ctr"/>
          <a:lstStyle/>
          <a:p>
            <a:pPr algn="r" indent="0" marL="0">
              <a:buNone/>
            </a:pPr>
            <a:r>
              <a:rPr lang="en-US" sz="800" dirty="0">
                <a:solidFill>
                  <a:srgbClr val="6F7375"/>
                </a:solidFill>
                <a:latin typeface="Courier New" pitchFamily="34" charset="0"/>
                <a:ea typeface="Courier New" pitchFamily="34" charset="-122"/>
                <a:cs typeface="Courier New" pitchFamily="34" charset="-120"/>
              </a:rPr>
              <a:t>15</a:t>
            </a:r>
            <a:endParaRPr lang="en-US" sz="800" dirty="0"/>
          </a:p>
        </p:txBody>
      </p:sp>
      <p:sp>
        <p:nvSpPr>
          <p:cNvPr id="5" name="Text 3"/>
          <p:cNvSpPr txBox="1"/>
          <p:nvPr/>
        </p:nvSpPr>
        <p:spPr>
          <a:xfrm>
            <a:off x="640080" y="1463040"/>
            <a:ext cx="10241280" cy="2194560"/>
          </a:xfrm>
          <a:prstGeom prst="rect">
            <a:avLst/>
          </a:prstGeom>
          <a:noFill/>
          <a:ln/>
        </p:spPr>
        <p:txBody>
          <a:bodyPr wrap="square" lIns="0" tIns="0" rIns="0" bIns="0" rtlCol="0" anchor="t"/>
          <a:lstStyle/>
          <a:p>
            <a:pPr indent="0" marL="0">
              <a:buNone/>
            </a:pPr>
            <a:r>
              <a:rPr lang="en-US" sz="3600" b="1" dirty="0">
                <a:solidFill>
                  <a:srgbClr val="F2F1EC"/>
                </a:solidFill>
                <a:latin typeface="Cambria" pitchFamily="34" charset="0"/>
                <a:ea typeface="Cambria" pitchFamily="34" charset="-122"/>
                <a:cs typeface="Cambria" pitchFamily="34" charset="-120"/>
              </a:rPr>
              <a:t>Wherever work changes something a machine can measure, payment should follow proof, and nothing should be able to disappear.</a:t>
            </a:r>
            <a:endParaRPr lang="en-US" sz="3600" dirty="0"/>
          </a:p>
        </p:txBody>
      </p:sp>
      <p:sp>
        <p:nvSpPr>
          <p:cNvPr id="6" name="Text 4"/>
          <p:cNvSpPr txBox="1"/>
          <p:nvPr/>
        </p:nvSpPr>
        <p:spPr>
          <a:xfrm>
            <a:off x="640080" y="3840480"/>
            <a:ext cx="10058400" cy="548640"/>
          </a:xfrm>
          <a:prstGeom prst="rect">
            <a:avLst/>
          </a:prstGeom>
          <a:noFill/>
          <a:ln/>
        </p:spPr>
        <p:txBody>
          <a:bodyPr wrap="square" lIns="0" tIns="0" rIns="0" bIns="0" rtlCol="0" anchor="ctr"/>
          <a:lstStyle/>
          <a:p>
            <a:pPr indent="0" marL="0">
              <a:buNone/>
            </a:pPr>
            <a:r>
              <a:rPr lang="en-US" sz="2200" i="1" dirty="0">
                <a:solidFill>
                  <a:srgbClr val="E08A63"/>
                </a:solidFill>
                <a:latin typeface="Cambria" pitchFamily="34" charset="0"/>
                <a:ea typeface="Cambria" pitchFamily="34" charset="-122"/>
                <a:cs typeface="Cambria" pitchFamily="34" charset="-120"/>
              </a:rPr>
              <a:t>We start with waste in Bengaluru.</a:t>
            </a:r>
            <a:endParaRPr lang="en-US" sz="2200" dirty="0"/>
          </a:p>
        </p:txBody>
      </p:sp>
      <p:sp>
        <p:nvSpPr>
          <p:cNvPr id="7" name="Text 5"/>
          <p:cNvSpPr txBox="1"/>
          <p:nvPr/>
        </p:nvSpPr>
        <p:spPr>
          <a:xfrm>
            <a:off x="640080" y="5120640"/>
            <a:ext cx="10515600" cy="365760"/>
          </a:xfrm>
          <a:prstGeom prst="rect">
            <a:avLst/>
          </a:prstGeom>
          <a:noFill/>
          <a:ln/>
        </p:spPr>
        <p:txBody>
          <a:bodyPr wrap="square" lIns="0" tIns="0" rIns="0" bIns="0" rtlCol="0" anchor="ctr"/>
          <a:lstStyle/>
          <a:p>
            <a:pPr indent="0" marL="0">
              <a:buNone/>
            </a:pPr>
            <a:r>
              <a:rPr lang="en-US" sz="1100" dirty="0">
                <a:solidFill>
                  <a:srgbClr val="9CC3CB"/>
                </a:solidFill>
                <a:latin typeface="Courier New" pitchFamily="34" charset="0"/>
                <a:ea typeface="Courier New" pitchFamily="34" charset="-122"/>
                <a:cs typeface="Courier New" pitchFamily="34" charset="-120"/>
              </a:rPr>
              <a:t>github.com/jyo-coded/MST  ·  github.com/HirthikBalaji/ghostless  ·  MST Testnet, chain 91562037</a:t>
            </a:r>
            <a:endParaRPr lang="en-US" sz="1100" dirty="0"/>
          </a:p>
        </p:txBody>
      </p:sp>
      <p:sp>
        <p:nvSpPr>
          <p:cNvPr id="8" name="Text 6"/>
          <p:cNvSpPr txBox="1"/>
          <p:nvPr/>
        </p:nvSpPr>
        <p:spPr>
          <a:xfrm>
            <a:off x="640080" y="5532120"/>
            <a:ext cx="10515600" cy="365760"/>
          </a:xfrm>
          <a:prstGeom prst="rect">
            <a:avLst/>
          </a:prstGeom>
          <a:noFill/>
          <a:ln/>
        </p:spPr>
        <p:txBody>
          <a:bodyPr wrap="square" lIns="0" tIns="0" rIns="0" bIns="0" rtlCol="0" anchor="ctr"/>
          <a:lstStyle/>
          <a:p>
            <a:pPr indent="0" marL="0">
              <a:buNone/>
            </a:pPr>
            <a:r>
              <a:rPr lang="en-US" sz="1300" dirty="0">
                <a:solidFill>
                  <a:srgbClr val="C9C8C2"/>
                </a:solidFill>
                <a:latin typeface="Calibri" pitchFamily="34" charset="0"/>
                <a:ea typeface="Calibri" pitchFamily="34" charset="-122"/>
                <a:cs typeface="Calibri" pitchFamily="34" charset="-120"/>
              </a:rPr>
              <a:t>Live demo: fill a bin → watch it get verified, collected and paid on MSTScan.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Ghostless</dc:title>
  <dc:subject>PptxGenJS Presentation</dc:subject>
  <dc:creator>PptxGenJS</dc:creator>
  <cp:lastModifiedBy>PptxGenJS</cp:lastModifiedBy>
  <cp:revision>1</cp:revision>
  <dcterms:created xsi:type="dcterms:W3CDTF">2026-09-29T10:56:18Z</dcterms:created>
  <dcterms:modified xsi:type="dcterms:W3CDTF">2026-09-29T10:56:18Z</dcterms:modified>
</cp:coreProperties>
</file>